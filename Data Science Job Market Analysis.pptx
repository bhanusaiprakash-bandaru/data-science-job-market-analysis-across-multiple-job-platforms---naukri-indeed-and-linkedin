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86" r:id="rId2"/>
    <p:sldId id="275" r:id="rId3"/>
    <p:sldId id="294" r:id="rId4"/>
    <p:sldId id="277" r:id="rId5"/>
    <p:sldId id="278" r:id="rId6"/>
    <p:sldId id="326" r:id="rId7"/>
    <p:sldId id="279" r:id="rId8"/>
    <p:sldId id="327" r:id="rId9"/>
    <p:sldId id="328" r:id="rId10"/>
    <p:sldId id="329" r:id="rId11"/>
    <p:sldId id="292" r:id="rId12"/>
    <p:sldId id="310" r:id="rId13"/>
    <p:sldId id="321" r:id="rId14"/>
    <p:sldId id="322" r:id="rId15"/>
    <p:sldId id="323" r:id="rId16"/>
    <p:sldId id="325" r:id="rId17"/>
    <p:sldId id="324" r:id="rId18"/>
    <p:sldId id="330" r:id="rId19"/>
    <p:sldId id="331" r:id="rId20"/>
    <p:sldId id="332" r:id="rId21"/>
    <p:sldId id="295" r:id="rId22"/>
    <p:sldId id="263" r:id="rId23"/>
    <p:sldId id="272" r:id="rId24"/>
    <p:sldId id="27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hanu sai prakash" initials="bs" lastIdx="1" clrIdx="0">
    <p:extLst>
      <p:ext uri="{19B8F6BF-5375-455C-9EA6-DF929625EA0E}">
        <p15:presenceInfo xmlns:p15="http://schemas.microsoft.com/office/powerpoint/2012/main" userId="717163dd6661142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0B0B0"/>
    <a:srgbClr val="4A6FA5"/>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167C1-5B1A-436D-ADEE-17DCC9FC2265}" type="datetimeFigureOut">
              <a:rPr lang="en-US" smtClean="0"/>
              <a:t>1/31/2026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80156F-D438-4AD7-9087-2707A9447047}" type="slidenum">
              <a:rPr lang="en-US" smtClean="0"/>
              <a:t>‹#›</a:t>
            </a:fld>
            <a:endParaRPr lang="en-US"/>
          </a:p>
        </p:txBody>
      </p:sp>
    </p:spTree>
    <p:extLst>
      <p:ext uri="{BB962C8B-B14F-4D97-AF65-F5344CB8AC3E}">
        <p14:creationId xmlns:p14="http://schemas.microsoft.com/office/powerpoint/2010/main" val="2483467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9FFBF3-BF2E-409F-AF89-EB98790D0617}" type="slidenum">
              <a:rPr lang="en-US" smtClean="0"/>
              <a:t>1</a:t>
            </a:fld>
            <a:endParaRPr lang="en-US"/>
          </a:p>
        </p:txBody>
      </p:sp>
    </p:spTree>
    <p:extLst>
      <p:ext uri="{BB962C8B-B14F-4D97-AF65-F5344CB8AC3E}">
        <p14:creationId xmlns:p14="http://schemas.microsoft.com/office/powerpoint/2010/main" val="345404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9FFBF3-BF2E-409F-AF89-EB98790D0617}" type="slidenum">
              <a:rPr lang="en-US" smtClean="0"/>
              <a:t>4</a:t>
            </a:fld>
            <a:endParaRPr lang="en-US"/>
          </a:p>
        </p:txBody>
      </p:sp>
    </p:spTree>
    <p:extLst>
      <p:ext uri="{BB962C8B-B14F-4D97-AF65-F5344CB8AC3E}">
        <p14:creationId xmlns:p14="http://schemas.microsoft.com/office/powerpoint/2010/main" val="1046497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80156F-D438-4AD7-9087-2707A9447047}" type="slidenum">
              <a:rPr lang="en-US" smtClean="0"/>
              <a:t>5</a:t>
            </a:fld>
            <a:endParaRPr lang="en-US"/>
          </a:p>
        </p:txBody>
      </p:sp>
    </p:spTree>
    <p:extLst>
      <p:ext uri="{BB962C8B-B14F-4D97-AF65-F5344CB8AC3E}">
        <p14:creationId xmlns:p14="http://schemas.microsoft.com/office/powerpoint/2010/main" val="2057328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9EE6D-2DFC-028B-5C28-6CF586E31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E4C6D4-8BF5-397A-F875-F5BD5D2F128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DB6D684-0325-D675-B8A7-FFFBE1EDE4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35153E-DDC9-0316-F1E0-F5A34333B638}"/>
              </a:ext>
            </a:extLst>
          </p:cNvPr>
          <p:cNvSpPr>
            <a:spLocks noGrp="1"/>
          </p:cNvSpPr>
          <p:nvPr>
            <p:ph type="sldNum" sz="quarter" idx="5"/>
          </p:nvPr>
        </p:nvSpPr>
        <p:spPr/>
        <p:txBody>
          <a:bodyPr/>
          <a:lstStyle/>
          <a:p>
            <a:fld id="{DA80156F-D438-4AD7-9087-2707A9447047}" type="slidenum">
              <a:rPr lang="en-US" smtClean="0"/>
              <a:t>6</a:t>
            </a:fld>
            <a:endParaRPr lang="en-US"/>
          </a:p>
        </p:txBody>
      </p:sp>
    </p:spTree>
    <p:extLst>
      <p:ext uri="{BB962C8B-B14F-4D97-AF65-F5344CB8AC3E}">
        <p14:creationId xmlns:p14="http://schemas.microsoft.com/office/powerpoint/2010/main" val="2973891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5EA35-41CC-335A-CAC8-46082952C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9D4338-4128-7E96-B19B-437A7B079DE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5D4DD27-95CB-1004-8647-56FF432444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8BEFA4-F975-E8FC-3069-8E597E9D9F6C}"/>
              </a:ext>
            </a:extLst>
          </p:cNvPr>
          <p:cNvSpPr>
            <a:spLocks noGrp="1"/>
          </p:cNvSpPr>
          <p:nvPr>
            <p:ph type="sldNum" sz="quarter" idx="5"/>
          </p:nvPr>
        </p:nvSpPr>
        <p:spPr/>
        <p:txBody>
          <a:bodyPr/>
          <a:lstStyle/>
          <a:p>
            <a:fld id="{759FFBF3-BF2E-409F-AF89-EB98790D0617}" type="slidenum">
              <a:rPr lang="en-US" smtClean="0"/>
              <a:t>8</a:t>
            </a:fld>
            <a:endParaRPr lang="en-US"/>
          </a:p>
        </p:txBody>
      </p:sp>
    </p:spTree>
    <p:extLst>
      <p:ext uri="{BB962C8B-B14F-4D97-AF65-F5344CB8AC3E}">
        <p14:creationId xmlns:p14="http://schemas.microsoft.com/office/powerpoint/2010/main" val="5056044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EE041-A13A-41FA-46D7-1164BAA3C8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F5B3C4-EA22-9E5C-3B72-601BCAD8DD3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121A9FD-6613-6C1C-C287-BD79AD18B3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95D5CC-7342-4435-4017-95C1FE252EDD}"/>
              </a:ext>
            </a:extLst>
          </p:cNvPr>
          <p:cNvSpPr>
            <a:spLocks noGrp="1"/>
          </p:cNvSpPr>
          <p:nvPr>
            <p:ph type="sldNum" sz="quarter" idx="5"/>
          </p:nvPr>
        </p:nvSpPr>
        <p:spPr/>
        <p:txBody>
          <a:bodyPr/>
          <a:lstStyle/>
          <a:p>
            <a:fld id="{759FFBF3-BF2E-409F-AF89-EB98790D0617}" type="slidenum">
              <a:rPr lang="en-US" smtClean="0"/>
              <a:t>9</a:t>
            </a:fld>
            <a:endParaRPr lang="en-US"/>
          </a:p>
        </p:txBody>
      </p:sp>
    </p:spTree>
    <p:extLst>
      <p:ext uri="{BB962C8B-B14F-4D97-AF65-F5344CB8AC3E}">
        <p14:creationId xmlns:p14="http://schemas.microsoft.com/office/powerpoint/2010/main" val="399944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82E1A-239B-3827-BA60-459DD3333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0984C0-3553-D28D-A7A5-85F1546DF1E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D9F8E44-1C26-3CDD-B8B3-577B89646B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1F9DB6-F3C3-45E0-AA87-569988CEC622}"/>
              </a:ext>
            </a:extLst>
          </p:cNvPr>
          <p:cNvSpPr>
            <a:spLocks noGrp="1"/>
          </p:cNvSpPr>
          <p:nvPr>
            <p:ph type="sldNum" sz="quarter" idx="5"/>
          </p:nvPr>
        </p:nvSpPr>
        <p:spPr/>
        <p:txBody>
          <a:bodyPr/>
          <a:lstStyle/>
          <a:p>
            <a:fld id="{759FFBF3-BF2E-409F-AF89-EB98790D0617}" type="slidenum">
              <a:rPr lang="en-US" smtClean="0"/>
              <a:t>10</a:t>
            </a:fld>
            <a:endParaRPr lang="en-US"/>
          </a:p>
        </p:txBody>
      </p:sp>
    </p:spTree>
    <p:extLst>
      <p:ext uri="{BB962C8B-B14F-4D97-AF65-F5344CB8AC3E}">
        <p14:creationId xmlns:p14="http://schemas.microsoft.com/office/powerpoint/2010/main" val="39102692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9FFBF3-BF2E-409F-AF89-EB98790D0617}" type="slidenum">
              <a:rPr lang="en-US" smtClean="0"/>
              <a:t>11</a:t>
            </a:fld>
            <a:endParaRPr lang="en-US"/>
          </a:p>
        </p:txBody>
      </p:sp>
    </p:spTree>
    <p:extLst>
      <p:ext uri="{BB962C8B-B14F-4D97-AF65-F5344CB8AC3E}">
        <p14:creationId xmlns:p14="http://schemas.microsoft.com/office/powerpoint/2010/main" val="16720281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80156F-D438-4AD7-9087-2707A9447047}" type="slidenum">
              <a:rPr lang="en-US" smtClean="0"/>
              <a:t>12</a:t>
            </a:fld>
            <a:endParaRPr lang="en-US"/>
          </a:p>
        </p:txBody>
      </p:sp>
    </p:spTree>
    <p:extLst>
      <p:ext uri="{BB962C8B-B14F-4D97-AF65-F5344CB8AC3E}">
        <p14:creationId xmlns:p14="http://schemas.microsoft.com/office/powerpoint/2010/main" val="3892683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DB8EB-8C7F-5D12-196B-AAF559CFCF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B93506-6CEF-8775-3DFA-D1B7090DC7F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8442C95-4E21-4431-63E6-A291AED0A8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36A778-F9FF-42C5-31CC-08FB23118DFC}"/>
              </a:ext>
            </a:extLst>
          </p:cNvPr>
          <p:cNvSpPr>
            <a:spLocks noGrp="1"/>
          </p:cNvSpPr>
          <p:nvPr>
            <p:ph type="sldNum" sz="quarter" idx="5"/>
          </p:nvPr>
        </p:nvSpPr>
        <p:spPr/>
        <p:txBody>
          <a:bodyPr/>
          <a:lstStyle/>
          <a:p>
            <a:fld id="{DA80156F-D438-4AD7-9087-2707A9447047}" type="slidenum">
              <a:rPr lang="en-US" smtClean="0"/>
              <a:t>13</a:t>
            </a:fld>
            <a:endParaRPr lang="en-US"/>
          </a:p>
        </p:txBody>
      </p:sp>
    </p:spTree>
    <p:extLst>
      <p:ext uri="{BB962C8B-B14F-4D97-AF65-F5344CB8AC3E}">
        <p14:creationId xmlns:p14="http://schemas.microsoft.com/office/powerpoint/2010/main" val="25171253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9949F-A8CD-D96E-BA4C-63CCC93B5A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D89DE1-2C44-400C-32E1-BF5F18A2A7E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E624EF4-2E6B-0017-8B16-724381627B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0AFABF-4F5D-F69B-3124-1D677185D076}"/>
              </a:ext>
            </a:extLst>
          </p:cNvPr>
          <p:cNvSpPr>
            <a:spLocks noGrp="1"/>
          </p:cNvSpPr>
          <p:nvPr>
            <p:ph type="sldNum" sz="quarter" idx="5"/>
          </p:nvPr>
        </p:nvSpPr>
        <p:spPr/>
        <p:txBody>
          <a:bodyPr/>
          <a:lstStyle/>
          <a:p>
            <a:fld id="{DA80156F-D438-4AD7-9087-2707A9447047}" type="slidenum">
              <a:rPr lang="en-US" smtClean="0"/>
              <a:t>14</a:t>
            </a:fld>
            <a:endParaRPr lang="en-US"/>
          </a:p>
        </p:txBody>
      </p:sp>
    </p:spTree>
    <p:extLst>
      <p:ext uri="{BB962C8B-B14F-4D97-AF65-F5344CB8AC3E}">
        <p14:creationId xmlns:p14="http://schemas.microsoft.com/office/powerpoint/2010/main" val="4660426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067F3-15A4-39BF-1E6E-88C19C3485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C9BDDF-1CB5-265D-A397-C06EA8B1F1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0E9B580-7658-E8B9-702F-55889C373B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DC22E8-FF41-A98C-AC20-A93D4438A837}"/>
              </a:ext>
            </a:extLst>
          </p:cNvPr>
          <p:cNvSpPr>
            <a:spLocks noGrp="1"/>
          </p:cNvSpPr>
          <p:nvPr>
            <p:ph type="sldNum" sz="quarter" idx="5"/>
          </p:nvPr>
        </p:nvSpPr>
        <p:spPr/>
        <p:txBody>
          <a:bodyPr/>
          <a:lstStyle/>
          <a:p>
            <a:fld id="{DA80156F-D438-4AD7-9087-2707A9447047}" type="slidenum">
              <a:rPr lang="en-US" smtClean="0"/>
              <a:t>15</a:t>
            </a:fld>
            <a:endParaRPr lang="en-US"/>
          </a:p>
        </p:txBody>
      </p:sp>
    </p:spTree>
    <p:extLst>
      <p:ext uri="{BB962C8B-B14F-4D97-AF65-F5344CB8AC3E}">
        <p14:creationId xmlns:p14="http://schemas.microsoft.com/office/powerpoint/2010/main" val="17948290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58B2A-1F2C-57EC-EA50-CE9360462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01B607-87CC-CB00-D510-7A464DF379D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FD25AFE-E1CD-ABA2-EA0E-FA9C86C819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9F826C-891B-981E-9F44-C36F32B4B17C}"/>
              </a:ext>
            </a:extLst>
          </p:cNvPr>
          <p:cNvSpPr>
            <a:spLocks noGrp="1"/>
          </p:cNvSpPr>
          <p:nvPr>
            <p:ph type="sldNum" sz="quarter" idx="5"/>
          </p:nvPr>
        </p:nvSpPr>
        <p:spPr/>
        <p:txBody>
          <a:bodyPr/>
          <a:lstStyle/>
          <a:p>
            <a:fld id="{DA80156F-D438-4AD7-9087-2707A9447047}" type="slidenum">
              <a:rPr lang="en-US" smtClean="0"/>
              <a:t>16</a:t>
            </a:fld>
            <a:endParaRPr lang="en-US"/>
          </a:p>
        </p:txBody>
      </p:sp>
    </p:spTree>
    <p:extLst>
      <p:ext uri="{BB962C8B-B14F-4D97-AF65-F5344CB8AC3E}">
        <p14:creationId xmlns:p14="http://schemas.microsoft.com/office/powerpoint/2010/main" val="3621189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1B9AA-CC2D-FF62-BBBF-CB17C955EB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40780-5F8B-0BA6-BF98-2B4A9F2DA65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DA90D34-1432-DEA8-2C11-1847B25F95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9E5A97-283C-D42C-BEAA-FA6928023936}"/>
              </a:ext>
            </a:extLst>
          </p:cNvPr>
          <p:cNvSpPr>
            <a:spLocks noGrp="1"/>
          </p:cNvSpPr>
          <p:nvPr>
            <p:ph type="sldNum" sz="quarter" idx="5"/>
          </p:nvPr>
        </p:nvSpPr>
        <p:spPr/>
        <p:txBody>
          <a:bodyPr/>
          <a:lstStyle/>
          <a:p>
            <a:fld id="{DA80156F-D438-4AD7-9087-2707A9447047}" type="slidenum">
              <a:rPr lang="en-US" smtClean="0"/>
              <a:t>17</a:t>
            </a:fld>
            <a:endParaRPr lang="en-US"/>
          </a:p>
        </p:txBody>
      </p:sp>
    </p:spTree>
    <p:extLst>
      <p:ext uri="{BB962C8B-B14F-4D97-AF65-F5344CB8AC3E}">
        <p14:creationId xmlns:p14="http://schemas.microsoft.com/office/powerpoint/2010/main" val="26072868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2420C-83B2-6128-9395-4FD3A8A919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E6A95C-F744-F28A-711A-04FA11B25B5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143CA6E-0D15-7E56-3091-9955F6E8DB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ACF677-6C38-A93E-B128-93F86E70D11C}"/>
              </a:ext>
            </a:extLst>
          </p:cNvPr>
          <p:cNvSpPr>
            <a:spLocks noGrp="1"/>
          </p:cNvSpPr>
          <p:nvPr>
            <p:ph type="sldNum" sz="quarter" idx="5"/>
          </p:nvPr>
        </p:nvSpPr>
        <p:spPr/>
        <p:txBody>
          <a:bodyPr/>
          <a:lstStyle/>
          <a:p>
            <a:fld id="{DA80156F-D438-4AD7-9087-2707A9447047}" type="slidenum">
              <a:rPr lang="en-US" smtClean="0"/>
              <a:t>18</a:t>
            </a:fld>
            <a:endParaRPr lang="en-US"/>
          </a:p>
        </p:txBody>
      </p:sp>
    </p:spTree>
    <p:extLst>
      <p:ext uri="{BB962C8B-B14F-4D97-AF65-F5344CB8AC3E}">
        <p14:creationId xmlns:p14="http://schemas.microsoft.com/office/powerpoint/2010/main" val="21592966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F7F17-7231-2F8F-168B-BAC80F5495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B46BBF-B4DA-E207-5F93-414047C7F4D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61E172E-9418-1527-AA95-CB11A8CEBA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AA3581-DD9F-E219-8E08-E8A65A4D41C6}"/>
              </a:ext>
            </a:extLst>
          </p:cNvPr>
          <p:cNvSpPr>
            <a:spLocks noGrp="1"/>
          </p:cNvSpPr>
          <p:nvPr>
            <p:ph type="sldNum" sz="quarter" idx="5"/>
          </p:nvPr>
        </p:nvSpPr>
        <p:spPr/>
        <p:txBody>
          <a:bodyPr/>
          <a:lstStyle/>
          <a:p>
            <a:fld id="{DA80156F-D438-4AD7-9087-2707A9447047}" type="slidenum">
              <a:rPr lang="en-US" smtClean="0"/>
              <a:t>19</a:t>
            </a:fld>
            <a:endParaRPr lang="en-US"/>
          </a:p>
        </p:txBody>
      </p:sp>
    </p:spTree>
    <p:extLst>
      <p:ext uri="{BB962C8B-B14F-4D97-AF65-F5344CB8AC3E}">
        <p14:creationId xmlns:p14="http://schemas.microsoft.com/office/powerpoint/2010/main" val="34743472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670C9-1D12-FEC8-DDC3-5C0EB1F64C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35D067-9558-82A8-D3F3-ACA1B39E999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C2CECAE-C906-BD12-1CEB-BADC787B95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27AB08-1A95-5301-E417-319C945E4D41}"/>
              </a:ext>
            </a:extLst>
          </p:cNvPr>
          <p:cNvSpPr>
            <a:spLocks noGrp="1"/>
          </p:cNvSpPr>
          <p:nvPr>
            <p:ph type="sldNum" sz="quarter" idx="5"/>
          </p:nvPr>
        </p:nvSpPr>
        <p:spPr/>
        <p:txBody>
          <a:bodyPr/>
          <a:lstStyle/>
          <a:p>
            <a:fld id="{DA80156F-D438-4AD7-9087-2707A9447047}" type="slidenum">
              <a:rPr lang="en-US" smtClean="0"/>
              <a:t>20</a:t>
            </a:fld>
            <a:endParaRPr lang="en-US"/>
          </a:p>
        </p:txBody>
      </p:sp>
    </p:spTree>
    <p:extLst>
      <p:ext uri="{BB962C8B-B14F-4D97-AF65-F5344CB8AC3E}">
        <p14:creationId xmlns:p14="http://schemas.microsoft.com/office/powerpoint/2010/main" val="40957495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205F6-96BA-075E-80C7-01FE090378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9A3714E-4674-309A-260A-B7CA2CA132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00D44F-4F43-A2B8-9665-14CE5A05A4E6}"/>
              </a:ext>
            </a:extLst>
          </p:cNvPr>
          <p:cNvSpPr>
            <a:spLocks noGrp="1"/>
          </p:cNvSpPr>
          <p:nvPr>
            <p:ph type="dt" sz="half" idx="10"/>
          </p:nvPr>
        </p:nvSpPr>
        <p:spPr/>
        <p:txBody>
          <a:bodyPr/>
          <a:lstStyle/>
          <a:p>
            <a:fld id="{C9E38F49-C6C1-432C-A021-7EA97C97ED74}" type="datetimeFigureOut">
              <a:rPr lang="en-US" smtClean="0"/>
              <a:t>1/31/2026</a:t>
            </a:fld>
            <a:endParaRPr lang="en-US"/>
          </a:p>
        </p:txBody>
      </p:sp>
      <p:sp>
        <p:nvSpPr>
          <p:cNvPr id="5" name="Footer Placeholder 4">
            <a:extLst>
              <a:ext uri="{FF2B5EF4-FFF2-40B4-BE49-F238E27FC236}">
                <a16:creationId xmlns:a16="http://schemas.microsoft.com/office/drawing/2014/main" id="{1FAB7F45-624D-9C1D-0ADD-9FFDD22895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B9A74D-C71D-D554-7542-97DF9ABF1483}"/>
              </a:ext>
            </a:extLst>
          </p:cNvPr>
          <p:cNvSpPr>
            <a:spLocks noGrp="1"/>
          </p:cNvSpPr>
          <p:nvPr>
            <p:ph type="sldNum" sz="quarter" idx="12"/>
          </p:nvPr>
        </p:nvSpPr>
        <p:spPr/>
        <p:txBody>
          <a:bodyPr/>
          <a:lstStyle/>
          <a:p>
            <a:fld id="{D608BFDC-3999-4604-B668-0A9B260BDA72}" type="slidenum">
              <a:rPr lang="en-US" smtClean="0"/>
              <a:t>‹#›</a:t>
            </a:fld>
            <a:endParaRPr lang="en-US"/>
          </a:p>
        </p:txBody>
      </p:sp>
    </p:spTree>
    <p:extLst>
      <p:ext uri="{BB962C8B-B14F-4D97-AF65-F5344CB8AC3E}">
        <p14:creationId xmlns:p14="http://schemas.microsoft.com/office/powerpoint/2010/main" val="3781029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F71EA-D43C-8052-D794-44B2E91114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A8364B-CFB0-AFB0-9AE7-E6833AB415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93688A-0E23-7910-D829-990DC1737F31}"/>
              </a:ext>
            </a:extLst>
          </p:cNvPr>
          <p:cNvSpPr>
            <a:spLocks noGrp="1"/>
          </p:cNvSpPr>
          <p:nvPr>
            <p:ph type="dt" sz="half" idx="10"/>
          </p:nvPr>
        </p:nvSpPr>
        <p:spPr/>
        <p:txBody>
          <a:bodyPr/>
          <a:lstStyle/>
          <a:p>
            <a:fld id="{C9E38F49-C6C1-432C-A021-7EA97C97ED74}" type="datetimeFigureOut">
              <a:rPr lang="en-US" smtClean="0"/>
              <a:t>1/31/2026</a:t>
            </a:fld>
            <a:endParaRPr lang="en-US"/>
          </a:p>
        </p:txBody>
      </p:sp>
      <p:sp>
        <p:nvSpPr>
          <p:cNvPr id="5" name="Footer Placeholder 4">
            <a:extLst>
              <a:ext uri="{FF2B5EF4-FFF2-40B4-BE49-F238E27FC236}">
                <a16:creationId xmlns:a16="http://schemas.microsoft.com/office/drawing/2014/main" id="{923B4B6D-DBAE-FBFD-AB1B-02C30FA8AF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8A2166-246E-3F42-9473-AF2533FE644B}"/>
              </a:ext>
            </a:extLst>
          </p:cNvPr>
          <p:cNvSpPr>
            <a:spLocks noGrp="1"/>
          </p:cNvSpPr>
          <p:nvPr>
            <p:ph type="sldNum" sz="quarter" idx="12"/>
          </p:nvPr>
        </p:nvSpPr>
        <p:spPr/>
        <p:txBody>
          <a:bodyPr/>
          <a:lstStyle/>
          <a:p>
            <a:fld id="{D608BFDC-3999-4604-B668-0A9B260BDA72}" type="slidenum">
              <a:rPr lang="en-US" smtClean="0"/>
              <a:t>‹#›</a:t>
            </a:fld>
            <a:endParaRPr lang="en-US"/>
          </a:p>
        </p:txBody>
      </p:sp>
    </p:spTree>
    <p:extLst>
      <p:ext uri="{BB962C8B-B14F-4D97-AF65-F5344CB8AC3E}">
        <p14:creationId xmlns:p14="http://schemas.microsoft.com/office/powerpoint/2010/main" val="4093835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A62F9-2277-E424-AED2-F8ACBA051E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4219A62-A7D8-CD94-AA94-F179ADBB4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510F57-6D2B-05AD-B367-40B79BC145A7}"/>
              </a:ext>
            </a:extLst>
          </p:cNvPr>
          <p:cNvSpPr>
            <a:spLocks noGrp="1"/>
          </p:cNvSpPr>
          <p:nvPr>
            <p:ph type="dt" sz="half" idx="10"/>
          </p:nvPr>
        </p:nvSpPr>
        <p:spPr/>
        <p:txBody>
          <a:bodyPr/>
          <a:lstStyle/>
          <a:p>
            <a:fld id="{C9E38F49-C6C1-432C-A021-7EA97C97ED74}" type="datetimeFigureOut">
              <a:rPr lang="en-US" smtClean="0"/>
              <a:t>1/31/2026</a:t>
            </a:fld>
            <a:endParaRPr lang="en-US"/>
          </a:p>
        </p:txBody>
      </p:sp>
      <p:sp>
        <p:nvSpPr>
          <p:cNvPr id="5" name="Footer Placeholder 4">
            <a:extLst>
              <a:ext uri="{FF2B5EF4-FFF2-40B4-BE49-F238E27FC236}">
                <a16:creationId xmlns:a16="http://schemas.microsoft.com/office/drawing/2014/main" id="{F0692125-9614-30F1-6803-ABD7A7F6B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0F9508-7D81-11B0-9716-17D31DC26D5D}"/>
              </a:ext>
            </a:extLst>
          </p:cNvPr>
          <p:cNvSpPr>
            <a:spLocks noGrp="1"/>
          </p:cNvSpPr>
          <p:nvPr>
            <p:ph type="sldNum" sz="quarter" idx="12"/>
          </p:nvPr>
        </p:nvSpPr>
        <p:spPr/>
        <p:txBody>
          <a:bodyPr/>
          <a:lstStyle/>
          <a:p>
            <a:fld id="{D608BFDC-3999-4604-B668-0A9B260BDA72}" type="slidenum">
              <a:rPr lang="en-US" smtClean="0"/>
              <a:t>‹#›</a:t>
            </a:fld>
            <a:endParaRPr lang="en-US"/>
          </a:p>
        </p:txBody>
      </p:sp>
    </p:spTree>
    <p:extLst>
      <p:ext uri="{BB962C8B-B14F-4D97-AF65-F5344CB8AC3E}">
        <p14:creationId xmlns:p14="http://schemas.microsoft.com/office/powerpoint/2010/main" val="2780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F1205-6208-BEFD-48DC-123246B212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5978B6-FA6E-458D-810E-7FB5EC5092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B67BDEC-E2BA-FEFA-FC33-4B3E3B0B99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A9CAC5-44C8-BFD8-07F9-BD2C729AAEB2}"/>
              </a:ext>
            </a:extLst>
          </p:cNvPr>
          <p:cNvSpPr>
            <a:spLocks noGrp="1"/>
          </p:cNvSpPr>
          <p:nvPr>
            <p:ph type="dt" sz="half" idx="10"/>
          </p:nvPr>
        </p:nvSpPr>
        <p:spPr/>
        <p:txBody>
          <a:bodyPr/>
          <a:lstStyle/>
          <a:p>
            <a:fld id="{C9E38F49-C6C1-432C-A021-7EA97C97ED74}" type="datetimeFigureOut">
              <a:rPr lang="en-US" smtClean="0"/>
              <a:t>1/31/2026</a:t>
            </a:fld>
            <a:endParaRPr lang="en-US"/>
          </a:p>
        </p:txBody>
      </p:sp>
      <p:sp>
        <p:nvSpPr>
          <p:cNvPr id="6" name="Footer Placeholder 5">
            <a:extLst>
              <a:ext uri="{FF2B5EF4-FFF2-40B4-BE49-F238E27FC236}">
                <a16:creationId xmlns:a16="http://schemas.microsoft.com/office/drawing/2014/main" id="{5737AB9F-C4B0-A2A5-3450-C3810A6118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72194A-C00F-BC67-3BCA-F393E9261139}"/>
              </a:ext>
            </a:extLst>
          </p:cNvPr>
          <p:cNvSpPr>
            <a:spLocks noGrp="1"/>
          </p:cNvSpPr>
          <p:nvPr>
            <p:ph type="sldNum" sz="quarter" idx="12"/>
          </p:nvPr>
        </p:nvSpPr>
        <p:spPr/>
        <p:txBody>
          <a:bodyPr/>
          <a:lstStyle/>
          <a:p>
            <a:fld id="{D608BFDC-3999-4604-B668-0A9B260BDA72}" type="slidenum">
              <a:rPr lang="en-US" smtClean="0"/>
              <a:t>‹#›</a:t>
            </a:fld>
            <a:endParaRPr lang="en-US"/>
          </a:p>
        </p:txBody>
      </p:sp>
    </p:spTree>
    <p:extLst>
      <p:ext uri="{BB962C8B-B14F-4D97-AF65-F5344CB8AC3E}">
        <p14:creationId xmlns:p14="http://schemas.microsoft.com/office/powerpoint/2010/main" val="272080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4F9D9-1530-5894-3B7A-4DD1D2FD61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3E70AB-FCAB-EB28-D319-EC6787AD3B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6B6824-6FE0-7B3E-CD87-0C2D1D62B5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5EF8DA-9F09-3414-D435-20BDE076D8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9B537E-0488-7701-CFD3-753C61C09D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FDC0B3-BDB1-0283-4756-AE664B63CAAD}"/>
              </a:ext>
            </a:extLst>
          </p:cNvPr>
          <p:cNvSpPr>
            <a:spLocks noGrp="1"/>
          </p:cNvSpPr>
          <p:nvPr>
            <p:ph type="dt" sz="half" idx="10"/>
          </p:nvPr>
        </p:nvSpPr>
        <p:spPr/>
        <p:txBody>
          <a:bodyPr/>
          <a:lstStyle/>
          <a:p>
            <a:fld id="{C9E38F49-C6C1-432C-A021-7EA97C97ED74}" type="datetimeFigureOut">
              <a:rPr lang="en-US" smtClean="0"/>
              <a:t>1/31/2026</a:t>
            </a:fld>
            <a:endParaRPr lang="en-US"/>
          </a:p>
        </p:txBody>
      </p:sp>
      <p:sp>
        <p:nvSpPr>
          <p:cNvPr id="8" name="Footer Placeholder 7">
            <a:extLst>
              <a:ext uri="{FF2B5EF4-FFF2-40B4-BE49-F238E27FC236}">
                <a16:creationId xmlns:a16="http://schemas.microsoft.com/office/drawing/2014/main" id="{42F8FCB1-989C-6564-53CC-4499F35B46B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834B78D-C4BF-CD19-19B5-1583A44B8901}"/>
              </a:ext>
            </a:extLst>
          </p:cNvPr>
          <p:cNvSpPr>
            <a:spLocks noGrp="1"/>
          </p:cNvSpPr>
          <p:nvPr>
            <p:ph type="sldNum" sz="quarter" idx="12"/>
          </p:nvPr>
        </p:nvSpPr>
        <p:spPr/>
        <p:txBody>
          <a:bodyPr/>
          <a:lstStyle/>
          <a:p>
            <a:fld id="{D608BFDC-3999-4604-B668-0A9B260BDA72}" type="slidenum">
              <a:rPr lang="en-US" smtClean="0"/>
              <a:t>‹#›</a:t>
            </a:fld>
            <a:endParaRPr lang="en-US"/>
          </a:p>
        </p:txBody>
      </p:sp>
    </p:spTree>
    <p:extLst>
      <p:ext uri="{BB962C8B-B14F-4D97-AF65-F5344CB8AC3E}">
        <p14:creationId xmlns:p14="http://schemas.microsoft.com/office/powerpoint/2010/main" val="650186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36A5B-4979-0DFE-5AA7-FDC3036A26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DA14AB-7432-A693-8D23-564924596EB2}"/>
              </a:ext>
            </a:extLst>
          </p:cNvPr>
          <p:cNvSpPr>
            <a:spLocks noGrp="1"/>
          </p:cNvSpPr>
          <p:nvPr>
            <p:ph type="dt" sz="half" idx="10"/>
          </p:nvPr>
        </p:nvSpPr>
        <p:spPr/>
        <p:txBody>
          <a:bodyPr/>
          <a:lstStyle/>
          <a:p>
            <a:fld id="{C9E38F49-C6C1-432C-A021-7EA97C97ED74}" type="datetimeFigureOut">
              <a:rPr lang="en-US" smtClean="0"/>
              <a:t>1/31/2026</a:t>
            </a:fld>
            <a:endParaRPr lang="en-US"/>
          </a:p>
        </p:txBody>
      </p:sp>
      <p:sp>
        <p:nvSpPr>
          <p:cNvPr id="4" name="Footer Placeholder 3">
            <a:extLst>
              <a:ext uri="{FF2B5EF4-FFF2-40B4-BE49-F238E27FC236}">
                <a16:creationId xmlns:a16="http://schemas.microsoft.com/office/drawing/2014/main" id="{5AF92F76-9777-29B7-84F4-98342A26A0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A37012-07BD-8A4D-3243-4DA238E9402A}"/>
              </a:ext>
            </a:extLst>
          </p:cNvPr>
          <p:cNvSpPr>
            <a:spLocks noGrp="1"/>
          </p:cNvSpPr>
          <p:nvPr>
            <p:ph type="sldNum" sz="quarter" idx="12"/>
          </p:nvPr>
        </p:nvSpPr>
        <p:spPr/>
        <p:txBody>
          <a:bodyPr/>
          <a:lstStyle/>
          <a:p>
            <a:fld id="{D608BFDC-3999-4604-B668-0A9B260BDA72}" type="slidenum">
              <a:rPr lang="en-US" smtClean="0"/>
              <a:t>‹#›</a:t>
            </a:fld>
            <a:endParaRPr lang="en-US"/>
          </a:p>
        </p:txBody>
      </p:sp>
    </p:spTree>
    <p:extLst>
      <p:ext uri="{BB962C8B-B14F-4D97-AF65-F5344CB8AC3E}">
        <p14:creationId xmlns:p14="http://schemas.microsoft.com/office/powerpoint/2010/main" val="1161229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5D1F81-9D6D-11F3-D53A-2687FA9F185B}"/>
              </a:ext>
            </a:extLst>
          </p:cNvPr>
          <p:cNvSpPr>
            <a:spLocks noGrp="1"/>
          </p:cNvSpPr>
          <p:nvPr>
            <p:ph type="dt" sz="half" idx="10"/>
          </p:nvPr>
        </p:nvSpPr>
        <p:spPr/>
        <p:txBody>
          <a:bodyPr/>
          <a:lstStyle/>
          <a:p>
            <a:fld id="{C9E38F49-C6C1-432C-A021-7EA97C97ED74}" type="datetimeFigureOut">
              <a:rPr lang="en-US" smtClean="0"/>
              <a:t>1/31/2026</a:t>
            </a:fld>
            <a:endParaRPr lang="en-US"/>
          </a:p>
        </p:txBody>
      </p:sp>
      <p:sp>
        <p:nvSpPr>
          <p:cNvPr id="3" name="Footer Placeholder 2">
            <a:extLst>
              <a:ext uri="{FF2B5EF4-FFF2-40B4-BE49-F238E27FC236}">
                <a16:creationId xmlns:a16="http://schemas.microsoft.com/office/drawing/2014/main" id="{6101E460-C982-D52E-BC3D-D6B1ED6DAC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1D3C8B-A3FD-C86E-526B-4DAE91815AAE}"/>
              </a:ext>
            </a:extLst>
          </p:cNvPr>
          <p:cNvSpPr>
            <a:spLocks noGrp="1"/>
          </p:cNvSpPr>
          <p:nvPr>
            <p:ph type="sldNum" sz="quarter" idx="12"/>
          </p:nvPr>
        </p:nvSpPr>
        <p:spPr/>
        <p:txBody>
          <a:bodyPr/>
          <a:lstStyle/>
          <a:p>
            <a:fld id="{D608BFDC-3999-4604-B668-0A9B260BDA72}" type="slidenum">
              <a:rPr lang="en-US" smtClean="0"/>
              <a:t>‹#›</a:t>
            </a:fld>
            <a:endParaRPr lang="en-US"/>
          </a:p>
        </p:txBody>
      </p:sp>
    </p:spTree>
    <p:extLst>
      <p:ext uri="{BB962C8B-B14F-4D97-AF65-F5344CB8AC3E}">
        <p14:creationId xmlns:p14="http://schemas.microsoft.com/office/powerpoint/2010/main" val="1190823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7A9E1-8EA7-E3C7-FE1F-605F0E4D87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2057324-E63F-9AF8-E509-CC7D9E333E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D4F5FCA-3D18-E59A-6DC6-A616901E0B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4DC2EC-F420-E7B2-D899-D7091A78471B}"/>
              </a:ext>
            </a:extLst>
          </p:cNvPr>
          <p:cNvSpPr>
            <a:spLocks noGrp="1"/>
          </p:cNvSpPr>
          <p:nvPr>
            <p:ph type="dt" sz="half" idx="10"/>
          </p:nvPr>
        </p:nvSpPr>
        <p:spPr/>
        <p:txBody>
          <a:bodyPr/>
          <a:lstStyle/>
          <a:p>
            <a:fld id="{C9E38F49-C6C1-432C-A021-7EA97C97ED74}" type="datetimeFigureOut">
              <a:rPr lang="en-US" smtClean="0"/>
              <a:t>1/31/2026</a:t>
            </a:fld>
            <a:endParaRPr lang="en-US"/>
          </a:p>
        </p:txBody>
      </p:sp>
      <p:sp>
        <p:nvSpPr>
          <p:cNvPr id="6" name="Footer Placeholder 5">
            <a:extLst>
              <a:ext uri="{FF2B5EF4-FFF2-40B4-BE49-F238E27FC236}">
                <a16:creationId xmlns:a16="http://schemas.microsoft.com/office/drawing/2014/main" id="{805E1F61-078B-26A0-BF1A-FBB8FBBDBD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472B0C-0663-A0A6-3F5D-AAAA5C23669C}"/>
              </a:ext>
            </a:extLst>
          </p:cNvPr>
          <p:cNvSpPr>
            <a:spLocks noGrp="1"/>
          </p:cNvSpPr>
          <p:nvPr>
            <p:ph type="sldNum" sz="quarter" idx="12"/>
          </p:nvPr>
        </p:nvSpPr>
        <p:spPr/>
        <p:txBody>
          <a:bodyPr/>
          <a:lstStyle/>
          <a:p>
            <a:fld id="{D608BFDC-3999-4604-B668-0A9B260BDA72}" type="slidenum">
              <a:rPr lang="en-US" smtClean="0"/>
              <a:t>‹#›</a:t>
            </a:fld>
            <a:endParaRPr lang="en-US"/>
          </a:p>
        </p:txBody>
      </p:sp>
    </p:spTree>
    <p:extLst>
      <p:ext uri="{BB962C8B-B14F-4D97-AF65-F5344CB8AC3E}">
        <p14:creationId xmlns:p14="http://schemas.microsoft.com/office/powerpoint/2010/main" val="130509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AC39E-6AAB-C066-DA81-74E4CD3DF3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E00E2A3-EDC0-1A33-EB63-C7ECFB6D83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651185-5998-7947-47EB-F25886717D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E10B6F-DD32-26FF-AEC0-CA949F95ACC9}"/>
              </a:ext>
            </a:extLst>
          </p:cNvPr>
          <p:cNvSpPr>
            <a:spLocks noGrp="1"/>
          </p:cNvSpPr>
          <p:nvPr>
            <p:ph type="dt" sz="half" idx="10"/>
          </p:nvPr>
        </p:nvSpPr>
        <p:spPr/>
        <p:txBody>
          <a:bodyPr/>
          <a:lstStyle/>
          <a:p>
            <a:fld id="{C9E38F49-C6C1-432C-A021-7EA97C97ED74}" type="datetimeFigureOut">
              <a:rPr lang="en-US" smtClean="0"/>
              <a:t>1/31/2026</a:t>
            </a:fld>
            <a:endParaRPr lang="en-US"/>
          </a:p>
        </p:txBody>
      </p:sp>
      <p:sp>
        <p:nvSpPr>
          <p:cNvPr id="6" name="Footer Placeholder 5">
            <a:extLst>
              <a:ext uri="{FF2B5EF4-FFF2-40B4-BE49-F238E27FC236}">
                <a16:creationId xmlns:a16="http://schemas.microsoft.com/office/drawing/2014/main" id="{B64C590C-76FB-C776-3CB3-E84B4D1230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F608D2-7A32-5EE1-8277-F4CFDAD9AF21}"/>
              </a:ext>
            </a:extLst>
          </p:cNvPr>
          <p:cNvSpPr>
            <a:spLocks noGrp="1"/>
          </p:cNvSpPr>
          <p:nvPr>
            <p:ph type="sldNum" sz="quarter" idx="12"/>
          </p:nvPr>
        </p:nvSpPr>
        <p:spPr/>
        <p:txBody>
          <a:bodyPr/>
          <a:lstStyle/>
          <a:p>
            <a:fld id="{D608BFDC-3999-4604-B668-0A9B260BDA72}" type="slidenum">
              <a:rPr lang="en-US" smtClean="0"/>
              <a:t>‹#›</a:t>
            </a:fld>
            <a:endParaRPr lang="en-US"/>
          </a:p>
        </p:txBody>
      </p:sp>
    </p:spTree>
    <p:extLst>
      <p:ext uri="{BB962C8B-B14F-4D97-AF65-F5344CB8AC3E}">
        <p14:creationId xmlns:p14="http://schemas.microsoft.com/office/powerpoint/2010/main" val="4168132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3DC68-6945-47BD-6FD1-BE4593F7AF1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A1FD35-3847-91CF-6CD1-37E07160F8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01ED36-1EC1-AC82-5367-BC96DD930DB4}"/>
              </a:ext>
            </a:extLst>
          </p:cNvPr>
          <p:cNvSpPr>
            <a:spLocks noGrp="1"/>
          </p:cNvSpPr>
          <p:nvPr>
            <p:ph type="dt" sz="half" idx="10"/>
          </p:nvPr>
        </p:nvSpPr>
        <p:spPr/>
        <p:txBody>
          <a:bodyPr/>
          <a:lstStyle/>
          <a:p>
            <a:fld id="{C9E38F49-C6C1-432C-A021-7EA97C97ED74}" type="datetimeFigureOut">
              <a:rPr lang="en-US" smtClean="0"/>
              <a:t>1/31/2026</a:t>
            </a:fld>
            <a:endParaRPr lang="en-US"/>
          </a:p>
        </p:txBody>
      </p:sp>
      <p:sp>
        <p:nvSpPr>
          <p:cNvPr id="5" name="Footer Placeholder 4">
            <a:extLst>
              <a:ext uri="{FF2B5EF4-FFF2-40B4-BE49-F238E27FC236}">
                <a16:creationId xmlns:a16="http://schemas.microsoft.com/office/drawing/2014/main" id="{A43BE267-0597-A3B2-4F34-4340EA29C5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CC32EC-0306-DB6C-06A2-D1A8EE90F22C}"/>
              </a:ext>
            </a:extLst>
          </p:cNvPr>
          <p:cNvSpPr>
            <a:spLocks noGrp="1"/>
          </p:cNvSpPr>
          <p:nvPr>
            <p:ph type="sldNum" sz="quarter" idx="12"/>
          </p:nvPr>
        </p:nvSpPr>
        <p:spPr/>
        <p:txBody>
          <a:bodyPr/>
          <a:lstStyle/>
          <a:p>
            <a:fld id="{D608BFDC-3999-4604-B668-0A9B260BDA72}" type="slidenum">
              <a:rPr lang="en-US" smtClean="0"/>
              <a:t>‹#›</a:t>
            </a:fld>
            <a:endParaRPr lang="en-US"/>
          </a:p>
        </p:txBody>
      </p:sp>
    </p:spTree>
    <p:extLst>
      <p:ext uri="{BB962C8B-B14F-4D97-AF65-F5344CB8AC3E}">
        <p14:creationId xmlns:p14="http://schemas.microsoft.com/office/powerpoint/2010/main" val="267068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FD17D1-D6FA-6BDF-BD30-938E54EAF8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9AA19F-F1ED-59A2-262C-21DC72A360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FE8561-8F41-9CD6-0878-0D17FA5BBD57}"/>
              </a:ext>
            </a:extLst>
          </p:cNvPr>
          <p:cNvSpPr>
            <a:spLocks noGrp="1"/>
          </p:cNvSpPr>
          <p:nvPr>
            <p:ph type="dt" sz="half" idx="10"/>
          </p:nvPr>
        </p:nvSpPr>
        <p:spPr/>
        <p:txBody>
          <a:bodyPr/>
          <a:lstStyle/>
          <a:p>
            <a:fld id="{C9E38F49-C6C1-432C-A021-7EA97C97ED74}" type="datetimeFigureOut">
              <a:rPr lang="en-US" smtClean="0"/>
              <a:t>1/31/2026</a:t>
            </a:fld>
            <a:endParaRPr lang="en-US"/>
          </a:p>
        </p:txBody>
      </p:sp>
      <p:sp>
        <p:nvSpPr>
          <p:cNvPr id="5" name="Footer Placeholder 4">
            <a:extLst>
              <a:ext uri="{FF2B5EF4-FFF2-40B4-BE49-F238E27FC236}">
                <a16:creationId xmlns:a16="http://schemas.microsoft.com/office/drawing/2014/main" id="{84B2B78F-90E8-48F6-969E-C1839CB099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C26DD1-F95A-C98C-DD92-0C8209AE73E5}"/>
              </a:ext>
            </a:extLst>
          </p:cNvPr>
          <p:cNvSpPr>
            <a:spLocks noGrp="1"/>
          </p:cNvSpPr>
          <p:nvPr>
            <p:ph type="sldNum" sz="quarter" idx="12"/>
          </p:nvPr>
        </p:nvSpPr>
        <p:spPr/>
        <p:txBody>
          <a:bodyPr/>
          <a:lstStyle/>
          <a:p>
            <a:fld id="{D608BFDC-3999-4604-B668-0A9B260BDA72}" type="slidenum">
              <a:rPr lang="en-US" smtClean="0"/>
              <a:t>‹#›</a:t>
            </a:fld>
            <a:endParaRPr lang="en-US"/>
          </a:p>
        </p:txBody>
      </p:sp>
    </p:spTree>
    <p:extLst>
      <p:ext uri="{BB962C8B-B14F-4D97-AF65-F5344CB8AC3E}">
        <p14:creationId xmlns:p14="http://schemas.microsoft.com/office/powerpoint/2010/main" val="2553204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E868A0-BB3D-C8C5-E639-F6E753CCCB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0D5ACBC-C086-ED33-DE0B-A009F320A9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ECB3AD-0106-982E-91C6-DA30F46079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E38F49-C6C1-432C-A021-7EA97C97ED74}" type="datetimeFigureOut">
              <a:rPr lang="en-US" smtClean="0"/>
              <a:t>1/31/2026</a:t>
            </a:fld>
            <a:endParaRPr lang="en-US"/>
          </a:p>
        </p:txBody>
      </p:sp>
      <p:sp>
        <p:nvSpPr>
          <p:cNvPr id="5" name="Footer Placeholder 4">
            <a:extLst>
              <a:ext uri="{FF2B5EF4-FFF2-40B4-BE49-F238E27FC236}">
                <a16:creationId xmlns:a16="http://schemas.microsoft.com/office/drawing/2014/main" id="{C3BF88DA-D9C3-2A42-406E-95CD1E1D95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6348926-C7B0-1774-B48A-C53610DF3B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08BFDC-3999-4604-B668-0A9B260BDA72}" type="slidenum">
              <a:rPr lang="en-US" smtClean="0"/>
              <a:t>‹#›</a:t>
            </a:fld>
            <a:endParaRPr lang="en-US"/>
          </a:p>
        </p:txBody>
      </p:sp>
    </p:spTree>
    <p:extLst>
      <p:ext uri="{BB962C8B-B14F-4D97-AF65-F5344CB8AC3E}">
        <p14:creationId xmlns:p14="http://schemas.microsoft.com/office/powerpoint/2010/main" val="10804082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bhanu-sai-prakash-bandaru-22a1b8204/" TargetMode="External"/><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hyperlink" Target="https://github.com/bhanusaiprakashbandaru"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42211DA6-1DA1-5FE6-E1B9-C61CD141879E}"/>
              </a:ext>
            </a:extLst>
          </p:cNvPr>
          <p:cNvGrpSpPr/>
          <p:nvPr/>
        </p:nvGrpSpPr>
        <p:grpSpPr>
          <a:xfrm>
            <a:off x="8626" y="8626"/>
            <a:ext cx="12192001" cy="6858000"/>
            <a:chOff x="0" y="0"/>
            <a:chExt cx="12192001" cy="6858000"/>
          </a:xfrm>
        </p:grpSpPr>
        <p:pic>
          <p:nvPicPr>
            <p:cNvPr id="3" name="Picture 2" descr="A white background with black and white clouds&#10;&#10;AI-generated content may be incorrect.">
              <a:extLst>
                <a:ext uri="{FF2B5EF4-FFF2-40B4-BE49-F238E27FC236}">
                  <a16:creationId xmlns:a16="http://schemas.microsoft.com/office/drawing/2014/main" id="{A10B4F96-ABD8-0A83-96A6-22CEBBAEC2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4733629"/>
              <a:ext cx="12192000" cy="2124371"/>
            </a:xfrm>
            <a:prstGeom prst="rect">
              <a:avLst/>
            </a:prstGeom>
          </p:spPr>
        </p:pic>
        <p:pic>
          <p:nvPicPr>
            <p:cNvPr id="5" name="Picture 4">
              <a:extLst>
                <a:ext uri="{FF2B5EF4-FFF2-40B4-BE49-F238E27FC236}">
                  <a16:creationId xmlns:a16="http://schemas.microsoft.com/office/drawing/2014/main" id="{EE362903-2FE7-5747-D5B9-E48E46A540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2810267"/>
            </a:xfrm>
            <a:prstGeom prst="rect">
              <a:avLst/>
            </a:prstGeom>
          </p:spPr>
        </p:pic>
      </p:grpSp>
      <p:sp>
        <p:nvSpPr>
          <p:cNvPr id="6" name="TextBox 5">
            <a:extLst>
              <a:ext uri="{FF2B5EF4-FFF2-40B4-BE49-F238E27FC236}">
                <a16:creationId xmlns:a16="http://schemas.microsoft.com/office/drawing/2014/main" id="{27121CFE-300A-97D9-73F5-BD4CF27AACCF}"/>
              </a:ext>
            </a:extLst>
          </p:cNvPr>
          <p:cNvSpPr txBox="1"/>
          <p:nvPr/>
        </p:nvSpPr>
        <p:spPr>
          <a:xfrm>
            <a:off x="1627933" y="2745639"/>
            <a:ext cx="9196251" cy="1969770"/>
          </a:xfrm>
          <a:prstGeom prst="rect">
            <a:avLst/>
          </a:prstGeom>
          <a:noFill/>
        </p:spPr>
        <p:txBody>
          <a:bodyPr wrap="square" rtlCol="0">
            <a:spAutoFit/>
          </a:bodyPr>
          <a:lstStyle/>
          <a:p>
            <a:pPr algn="ctr">
              <a:lnSpc>
                <a:spcPct val="150000"/>
              </a:lnSpc>
            </a:pPr>
            <a:r>
              <a:rPr lang="en-US" sz="2000" i="1" dirty="0">
                <a:latin typeface="Times New Roman" panose="02020603050405020304" pitchFamily="18" charset="0"/>
                <a:cs typeface="Times New Roman" panose="02020603050405020304" pitchFamily="18" charset="0"/>
              </a:rPr>
              <a:t>Project on </a:t>
            </a:r>
          </a:p>
          <a:p>
            <a:pPr algn="ctr"/>
            <a:r>
              <a:rPr lang="en-US" sz="3600" b="1" dirty="0">
                <a:solidFill>
                  <a:srgbClr val="FF0000"/>
                </a:solidFill>
                <a:latin typeface="Times New Roman" panose="02020603050405020304" pitchFamily="18" charset="0"/>
                <a:cs typeface="Times New Roman" panose="02020603050405020304" pitchFamily="18" charset="0"/>
              </a:rPr>
              <a:t>Data Science Job Market Analysis Across Multiple Job Platforms</a:t>
            </a:r>
          </a:p>
          <a:p>
            <a:pPr algn="ctr"/>
            <a:r>
              <a:rPr lang="en-US" i="1" dirty="0">
                <a:latin typeface="Times New Roman" panose="02020603050405020304" pitchFamily="18" charset="0"/>
                <a:cs typeface="Times New Roman" panose="02020603050405020304" pitchFamily="18" charset="0"/>
              </a:rPr>
              <a:t>(Naukri, Indeed, and LinkedIn)</a:t>
            </a:r>
            <a:endParaRPr lang="en-US" sz="1600" i="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33BEBC7-CAA0-4EBF-C4E1-427501C98944}"/>
              </a:ext>
            </a:extLst>
          </p:cNvPr>
          <p:cNvSpPr txBox="1"/>
          <p:nvPr/>
        </p:nvSpPr>
        <p:spPr>
          <a:xfrm>
            <a:off x="7803322" y="5487618"/>
            <a:ext cx="3931920"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Presented by :</a:t>
            </a:r>
          </a:p>
          <a:p>
            <a:r>
              <a:rPr lang="en-US" dirty="0">
                <a:latin typeface="Times New Roman" panose="02020603050405020304" pitchFamily="18" charset="0"/>
                <a:cs typeface="Times New Roman" panose="02020603050405020304" pitchFamily="18" charset="0"/>
              </a:rPr>
              <a:t>Name : </a:t>
            </a:r>
            <a:r>
              <a:rPr lang="en-US" b="1" dirty="0">
                <a:latin typeface="Times New Roman" panose="02020603050405020304" pitchFamily="18" charset="0"/>
                <a:cs typeface="Times New Roman" panose="02020603050405020304" pitchFamily="18" charset="0"/>
              </a:rPr>
              <a:t>B. Bhanu Sai Prakash</a:t>
            </a:r>
          </a:p>
          <a:p>
            <a:r>
              <a:rPr lang="en-US" dirty="0">
                <a:latin typeface="Times New Roman" panose="02020603050405020304" pitchFamily="18" charset="0"/>
                <a:cs typeface="Times New Roman" panose="02020603050405020304" pitchFamily="18" charset="0"/>
              </a:rPr>
              <a:t>Batch No : </a:t>
            </a:r>
            <a:r>
              <a:rPr lang="en-US" b="1" dirty="0">
                <a:latin typeface="Times New Roman" panose="02020603050405020304" pitchFamily="18" charset="0"/>
                <a:cs typeface="Times New Roman" panose="02020603050405020304" pitchFamily="18" charset="0"/>
              </a:rPr>
              <a:t>436</a:t>
            </a:r>
          </a:p>
          <a:p>
            <a:r>
              <a:rPr lang="en-US" dirty="0">
                <a:latin typeface="Times New Roman" panose="02020603050405020304" pitchFamily="18" charset="0"/>
                <a:cs typeface="Times New Roman" panose="02020603050405020304" pitchFamily="18" charset="0"/>
              </a:rPr>
              <a:t>Branch : </a:t>
            </a:r>
            <a:r>
              <a:rPr lang="en-US" b="1" dirty="0">
                <a:latin typeface="Times New Roman" panose="02020603050405020304" pitchFamily="18" charset="0"/>
                <a:cs typeface="Times New Roman" panose="02020603050405020304" pitchFamily="18" charset="0"/>
              </a:rPr>
              <a:t>Dilsukhnagar</a:t>
            </a:r>
          </a:p>
        </p:txBody>
      </p:sp>
    </p:spTree>
    <p:extLst>
      <p:ext uri="{BB962C8B-B14F-4D97-AF65-F5344CB8AC3E}">
        <p14:creationId xmlns:p14="http://schemas.microsoft.com/office/powerpoint/2010/main" val="7653892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B1F20-B426-FADC-D6EF-6A1394F1F25D}"/>
            </a:ext>
          </a:extLst>
        </p:cNvPr>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5F383544-AB66-497C-CF5D-122ED1080ABF}"/>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3" name="Title 1">
            <a:extLst>
              <a:ext uri="{FF2B5EF4-FFF2-40B4-BE49-F238E27FC236}">
                <a16:creationId xmlns:a16="http://schemas.microsoft.com/office/drawing/2014/main" id="{5AD38BAA-8DF6-B335-B98A-C5D18066119E}"/>
              </a:ext>
            </a:extLst>
          </p:cNvPr>
          <p:cNvSpPr txBox="1">
            <a:spLocks/>
          </p:cNvSpPr>
          <p:nvPr/>
        </p:nvSpPr>
        <p:spPr>
          <a:xfrm>
            <a:off x="674298" y="4847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About me</a:t>
            </a:r>
            <a:br>
              <a:rPr lang="en-US" sz="4000" b="1" dirty="0">
                <a:solidFill>
                  <a:srgbClr val="FF0000"/>
                </a:solidFill>
                <a:latin typeface="Times New Roman" panose="02020603050405020304" pitchFamily="18" charset="0"/>
                <a:cs typeface="Times New Roman" panose="02020603050405020304" pitchFamily="18" charset="0"/>
              </a:rPr>
            </a:br>
            <a:r>
              <a:rPr lang="en-US" sz="4000" b="1" dirty="0">
                <a:solidFill>
                  <a:srgbClr val="FF0000"/>
                </a:solidFill>
                <a:latin typeface="Times New Roman" panose="02020603050405020304" pitchFamily="18" charset="0"/>
                <a:cs typeface="Times New Roman" panose="02020603050405020304" pitchFamily="18" charset="0"/>
              </a:rPr>
              <a:t> </a:t>
            </a:r>
            <a:br>
              <a:rPr lang="en-US" sz="4000" b="1" dirty="0">
                <a:solidFill>
                  <a:srgbClr val="FF0000"/>
                </a:solidFill>
                <a:latin typeface="Times New Roman" panose="02020603050405020304" pitchFamily="18" charset="0"/>
                <a:cs typeface="Times New Roman" panose="02020603050405020304" pitchFamily="18" charset="0"/>
              </a:rPr>
            </a:br>
            <a:endParaRPr lang="en-US" sz="4000" b="1"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537EB6F-3C77-2516-394E-919B6CC2A223}"/>
              </a:ext>
            </a:extLst>
          </p:cNvPr>
          <p:cNvSpPr txBox="1"/>
          <p:nvPr/>
        </p:nvSpPr>
        <p:spPr>
          <a:xfrm>
            <a:off x="345383" y="966787"/>
            <a:ext cx="11352974" cy="3585597"/>
          </a:xfrm>
          <a:prstGeom prst="rect">
            <a:avLst/>
          </a:prstGeom>
          <a:noFill/>
        </p:spPr>
        <p:txBody>
          <a:bodyPr wrap="square">
            <a:spAutoFit/>
          </a:bodyPr>
          <a:lstStyle/>
          <a:p>
            <a:pPr lvl="1" algn="just" eaLnBrk="0" fontAlgn="base" hangingPunct="0">
              <a:lnSpc>
                <a:spcPct val="150000"/>
              </a:lnSpc>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1" algn="just"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I am </a:t>
            </a:r>
            <a:r>
              <a:rPr lang="en-US" altLang="en-US" b="1" dirty="0">
                <a:latin typeface="Times New Roman" panose="02020603050405020304" pitchFamily="18" charset="0"/>
                <a:cs typeface="Times New Roman" panose="02020603050405020304" pitchFamily="18" charset="0"/>
              </a:rPr>
              <a:t>Bhanu Sai Prakash Bandaru. </a:t>
            </a:r>
          </a:p>
          <a:p>
            <a:pPr lvl="1" algn="just" eaLnBrk="0" fontAlgn="base" hangingPunct="0">
              <a:lnSpc>
                <a:spcPct val="150000"/>
              </a:lnSpc>
              <a:spcBef>
                <a:spcPct val="0"/>
              </a:spcBef>
              <a:spcAft>
                <a:spcPct val="0"/>
              </a:spcAft>
            </a:pPr>
            <a:endParaRPr lang="en-US" altLang="en-US" sz="1000" dirty="0">
              <a:latin typeface="Times New Roman" panose="02020603050405020304" pitchFamily="18" charset="0"/>
              <a:cs typeface="Times New Roman" panose="02020603050405020304" pitchFamily="18" charset="0"/>
            </a:endParaRPr>
          </a:p>
          <a:p>
            <a:pPr lvl="1" algn="just"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I completed my B.Tech in Computer Science and Engineering from M.V.G.R College of Engineering(Vizianagaram).</a:t>
            </a:r>
          </a:p>
          <a:p>
            <a:pPr lvl="1" algn="just" eaLnBrk="0" fontAlgn="base" hangingPunct="0">
              <a:lnSpc>
                <a:spcPct val="150000"/>
              </a:lnSpc>
              <a:spcBef>
                <a:spcPct val="0"/>
              </a:spcBef>
              <a:spcAft>
                <a:spcPct val="0"/>
              </a:spcAft>
            </a:pPr>
            <a:endParaRPr lang="en-US" altLang="en-US" sz="1000" dirty="0">
              <a:latin typeface="Times New Roman" panose="02020603050405020304" pitchFamily="18" charset="0"/>
              <a:cs typeface="Times New Roman" panose="02020603050405020304" pitchFamily="18" charset="0"/>
            </a:endParaRPr>
          </a:p>
          <a:p>
            <a:pPr lvl="1" algn="just"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Linkedin : </a:t>
            </a:r>
            <a:r>
              <a:rPr lang="en-US" altLang="en-US" dirty="0">
                <a:latin typeface="Times New Roman" panose="02020603050405020304" pitchFamily="18" charset="0"/>
                <a:cs typeface="Times New Roman" panose="02020603050405020304" pitchFamily="18" charset="0"/>
                <a:hlinkClick r:id="rId3"/>
              </a:rPr>
              <a:t>https://www.linkedin.com/in/bhanu-sai-prakash-bandaru-22a1b8204/</a:t>
            </a:r>
            <a:endParaRPr lang="en-US" altLang="en-US" dirty="0">
              <a:latin typeface="Times New Roman" panose="02020603050405020304" pitchFamily="18" charset="0"/>
              <a:cs typeface="Times New Roman" panose="02020603050405020304" pitchFamily="18" charset="0"/>
            </a:endParaRPr>
          </a:p>
          <a:p>
            <a:pPr lvl="1" algn="just" eaLnBrk="0" fontAlgn="base" hangingPunct="0">
              <a:lnSpc>
                <a:spcPct val="150000"/>
              </a:lnSpc>
              <a:spcBef>
                <a:spcPct val="0"/>
              </a:spcBef>
              <a:spcAft>
                <a:spcPct val="0"/>
              </a:spcAft>
            </a:pPr>
            <a:endParaRPr lang="en-US" altLang="en-US" sz="1000" dirty="0">
              <a:latin typeface="Times New Roman" panose="02020603050405020304" pitchFamily="18" charset="0"/>
              <a:cs typeface="Times New Roman" panose="02020603050405020304" pitchFamily="18" charset="0"/>
            </a:endParaRPr>
          </a:p>
          <a:p>
            <a:pPr lvl="1" algn="just"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Github : </a:t>
            </a:r>
            <a:r>
              <a:rPr lang="en-US" altLang="en-US" dirty="0">
                <a:latin typeface="Times New Roman" panose="02020603050405020304" pitchFamily="18" charset="0"/>
                <a:cs typeface="Times New Roman" panose="02020603050405020304" pitchFamily="18" charset="0"/>
                <a:hlinkClick r:id="rId4"/>
              </a:rPr>
              <a:t>https://github.com/bhanusaiprakashbandaru</a:t>
            </a:r>
            <a:endParaRPr lang="en-US" altLang="en-US" dirty="0">
              <a:latin typeface="Times New Roman" panose="02020603050405020304" pitchFamily="18" charset="0"/>
              <a:cs typeface="Times New Roman" panose="02020603050405020304" pitchFamily="18" charset="0"/>
            </a:endParaRPr>
          </a:p>
          <a:p>
            <a:pPr lvl="1" algn="just"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B7B24BE-E595-51AF-CCB1-6D907A803ADD}"/>
              </a:ext>
            </a:extLst>
          </p:cNvPr>
          <p:cNvPicPr>
            <a:picLocks noChangeAspect="1"/>
          </p:cNvPicPr>
          <p:nvPr/>
        </p:nvPicPr>
        <p:blipFill>
          <a:blip r:embed="rId5">
            <a:extLst>
              <a:ext uri="{28A0092B-C50C-407E-A947-70E740481C1C}">
                <a14:useLocalDpi xmlns:a14="http://schemas.microsoft.com/office/drawing/2010/main" val="0"/>
              </a:ext>
            </a:extLst>
          </a:blip>
          <a:srcRect l="51546" t="19420" b="4058"/>
          <a:stretch>
            <a:fillRect/>
          </a:stretch>
        </p:blipFill>
        <p:spPr>
          <a:xfrm>
            <a:off x="10127973" y="3794411"/>
            <a:ext cx="1570384" cy="2480048"/>
          </a:xfrm>
          <a:prstGeom prst="rect">
            <a:avLst/>
          </a:prstGeom>
          <a:ln>
            <a:noFill/>
          </a:ln>
          <a:effectLst>
            <a:softEdge rad="112500"/>
          </a:effectLst>
        </p:spPr>
      </p:pic>
    </p:spTree>
    <p:extLst>
      <p:ext uri="{BB962C8B-B14F-4D97-AF65-F5344CB8AC3E}">
        <p14:creationId xmlns:p14="http://schemas.microsoft.com/office/powerpoint/2010/main" val="15665333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E4A75-2A09-1EEE-72AA-2F73484D86C5}"/>
              </a:ext>
            </a:extLst>
          </p:cNvPr>
          <p:cNvSpPr txBox="1">
            <a:spLocks/>
          </p:cNvSpPr>
          <p:nvPr/>
        </p:nvSpPr>
        <p:spPr>
          <a:xfrm>
            <a:off x="674298" y="168343"/>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Agenda</a:t>
            </a:r>
            <a:br>
              <a:rPr lang="en-US" sz="4000" b="1" dirty="0">
                <a:solidFill>
                  <a:srgbClr val="FF0000"/>
                </a:solidFill>
                <a:latin typeface="Times New Roman" panose="02020603050405020304" pitchFamily="18" charset="0"/>
                <a:cs typeface="Times New Roman" panose="02020603050405020304" pitchFamily="18" charset="0"/>
              </a:rPr>
            </a:br>
            <a:br>
              <a:rPr lang="en-US" sz="4000" b="1" dirty="0">
                <a:solidFill>
                  <a:srgbClr val="FF0000"/>
                </a:solidFill>
                <a:latin typeface="Times New Roman" panose="02020603050405020304" pitchFamily="18" charset="0"/>
                <a:cs typeface="Times New Roman" panose="02020603050405020304" pitchFamily="18" charset="0"/>
              </a:rPr>
            </a:br>
            <a:r>
              <a:rPr lang="en-US" sz="4000" b="1" dirty="0">
                <a:solidFill>
                  <a:srgbClr val="FF0000"/>
                </a:solidFill>
                <a:latin typeface="Times New Roman" panose="02020603050405020304" pitchFamily="18" charset="0"/>
                <a:cs typeface="Times New Roman" panose="02020603050405020304" pitchFamily="18" charset="0"/>
              </a:rPr>
              <a:t> </a:t>
            </a:r>
            <a:br>
              <a:rPr lang="en-US" sz="4000" b="1" dirty="0">
                <a:solidFill>
                  <a:srgbClr val="FF0000"/>
                </a:solidFill>
                <a:latin typeface="Times New Roman" panose="02020603050405020304" pitchFamily="18" charset="0"/>
                <a:cs typeface="Times New Roman" panose="02020603050405020304" pitchFamily="18" charset="0"/>
              </a:rPr>
            </a:br>
            <a:endParaRPr lang="en-US" sz="4000" b="1" dirty="0">
              <a:solidFill>
                <a:srgbClr val="FF0000"/>
              </a:solidFill>
              <a:latin typeface="Times New Roman" panose="02020603050405020304" pitchFamily="18" charset="0"/>
              <a:cs typeface="Times New Roman" panose="02020603050405020304" pitchFamily="18" charset="0"/>
            </a:endParaRPr>
          </a:p>
        </p:txBody>
      </p:sp>
      <p:pic>
        <p:nvPicPr>
          <p:cNvPr id="3" name="Picture 2" descr="A close up of a logo&#10;&#10;AI-generated content may be incorrect.">
            <a:extLst>
              <a:ext uri="{FF2B5EF4-FFF2-40B4-BE49-F238E27FC236}">
                <a16:creationId xmlns:a16="http://schemas.microsoft.com/office/drawing/2014/main" id="{DF4B61A4-5B86-74D0-78E5-B49E1A0CC328}"/>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8" name="TextBox 7">
            <a:extLst>
              <a:ext uri="{FF2B5EF4-FFF2-40B4-BE49-F238E27FC236}">
                <a16:creationId xmlns:a16="http://schemas.microsoft.com/office/drawing/2014/main" id="{830B37D4-B892-1CE2-A25A-BC1730411A5B}"/>
              </a:ext>
            </a:extLst>
          </p:cNvPr>
          <p:cNvSpPr txBox="1"/>
          <p:nvPr/>
        </p:nvSpPr>
        <p:spPr>
          <a:xfrm>
            <a:off x="674298" y="828908"/>
            <a:ext cx="9727096" cy="5576976"/>
          </a:xfrm>
          <a:prstGeom prst="rect">
            <a:avLst/>
          </a:prstGeom>
          <a:noFill/>
        </p:spPr>
        <p:txBody>
          <a:bodyPr wrap="square">
            <a:spAutoFit/>
          </a:bodyPr>
          <a:lstStyle/>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Introduction &amp; Problem Statement</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Business Problem &amp; Objectives</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Data Collection &amp; Preparation</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Data Understanding &amp; Cleaning</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Exploratory Data Analysis</a:t>
            </a:r>
          </a:p>
          <a:p>
            <a:pPr marL="800100" lvl="1"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Univariate Analysis</a:t>
            </a:r>
          </a:p>
          <a:p>
            <a:pPr marL="800100" lvl="1"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Bivariate Analysis</a:t>
            </a:r>
          </a:p>
          <a:p>
            <a:pPr marL="800100" lvl="1"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Multivariate Analysis</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Hypothesis Testing</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Key Insights &amp; Recommendations</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Conclusion</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Q&amp;A</a:t>
            </a:r>
          </a:p>
        </p:txBody>
      </p:sp>
      <p:pic>
        <p:nvPicPr>
          <p:cNvPr id="5" name="Picture 4">
            <a:extLst>
              <a:ext uri="{FF2B5EF4-FFF2-40B4-BE49-F238E27FC236}">
                <a16:creationId xmlns:a16="http://schemas.microsoft.com/office/drawing/2014/main" id="{493DB054-C458-CC56-F45E-8B286165DD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2877" y="1101586"/>
            <a:ext cx="4654825" cy="4654825"/>
          </a:xfrm>
          <a:prstGeom prst="rect">
            <a:avLst/>
          </a:prstGeom>
          <a:ln>
            <a:noFill/>
          </a:ln>
          <a:effectLst>
            <a:softEdge rad="112500"/>
          </a:effectLst>
        </p:spPr>
      </p:pic>
    </p:spTree>
    <p:extLst>
      <p:ext uri="{BB962C8B-B14F-4D97-AF65-F5344CB8AC3E}">
        <p14:creationId xmlns:p14="http://schemas.microsoft.com/office/powerpoint/2010/main" val="8601264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212ED-4149-6D4F-F371-AA2C2199AFF0}"/>
            </a:ext>
          </a:extLst>
        </p:cNvPr>
        <p:cNvGrpSpPr/>
        <p:nvPr/>
      </p:nvGrpSpPr>
      <p:grpSpPr>
        <a:xfrm>
          <a:off x="0" y="0"/>
          <a:ext cx="0" cy="0"/>
          <a:chOff x="0" y="0"/>
          <a:chExt cx="0" cy="0"/>
        </a:xfrm>
      </p:grpSpPr>
      <p:pic>
        <p:nvPicPr>
          <p:cNvPr id="2050" name="Picture 2" descr="Public Speaker - Free Presentation Template for Google Slides and PowerPoint  | #06124">
            <a:extLst>
              <a:ext uri="{FF2B5EF4-FFF2-40B4-BE49-F238E27FC236}">
                <a16:creationId xmlns:a16="http://schemas.microsoft.com/office/drawing/2014/main" id="{C2C07EC0-0381-95A5-3F79-37C97323FB2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 t="12523" r="40231" b="4523"/>
          <a:stretch>
            <a:fillRect/>
          </a:stretch>
        </p:blipFill>
        <p:spPr bwMode="auto">
          <a:xfrm>
            <a:off x="11042374" y="-4984"/>
            <a:ext cx="1149626" cy="120113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 name="Picture 1" descr="A close up of a logo&#10;&#10;AI-generated content may be incorrect.">
            <a:extLst>
              <a:ext uri="{FF2B5EF4-FFF2-40B4-BE49-F238E27FC236}">
                <a16:creationId xmlns:a16="http://schemas.microsoft.com/office/drawing/2014/main" id="{C2128297-8A62-CFD0-00E9-5367981D9A19}"/>
              </a:ext>
            </a:extLst>
          </p:cNvPr>
          <p:cNvPicPr>
            <a:picLocks noChangeAspect="1"/>
          </p:cNvPicPr>
          <p:nvPr/>
        </p:nvPicPr>
        <p:blipFill>
          <a:blip r:embed="rId4">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3" name="Title 1">
            <a:extLst>
              <a:ext uri="{FF2B5EF4-FFF2-40B4-BE49-F238E27FC236}">
                <a16:creationId xmlns:a16="http://schemas.microsoft.com/office/drawing/2014/main" id="{F867DB17-FC89-34AB-BBF1-766B8D6E584B}"/>
              </a:ext>
            </a:extLst>
          </p:cNvPr>
          <p:cNvSpPr txBox="1">
            <a:spLocks/>
          </p:cNvSpPr>
          <p:nvPr/>
        </p:nvSpPr>
        <p:spPr>
          <a:xfrm>
            <a:off x="674298" y="4847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Introduction </a:t>
            </a:r>
            <a:br>
              <a:rPr lang="en-US" sz="4000" b="1" dirty="0">
                <a:solidFill>
                  <a:srgbClr val="FF0000"/>
                </a:solidFill>
                <a:latin typeface="Times New Roman" panose="02020603050405020304" pitchFamily="18" charset="0"/>
                <a:cs typeface="Times New Roman" panose="02020603050405020304" pitchFamily="18" charset="0"/>
              </a:rPr>
            </a:br>
            <a:endParaRPr lang="en-US" sz="4000" b="1" dirty="0">
              <a:solidFill>
                <a:srgbClr val="FF000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C498B24-FB36-380F-AE9B-58299CD7920A}"/>
              </a:ext>
            </a:extLst>
          </p:cNvPr>
          <p:cNvSpPr txBox="1"/>
          <p:nvPr/>
        </p:nvSpPr>
        <p:spPr>
          <a:xfrm>
            <a:off x="674298" y="1102177"/>
            <a:ext cx="10843404" cy="4653646"/>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data science job market in India is growing rapidly, with opportunities spread across multiple job portals.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Job seekers often rely on platforms like </a:t>
            </a:r>
            <a:r>
              <a:rPr lang="en-US" sz="2000" b="1" dirty="0">
                <a:latin typeface="Times New Roman" panose="02020603050405020304" pitchFamily="18" charset="0"/>
                <a:cs typeface="Times New Roman" panose="02020603050405020304" pitchFamily="18" charset="0"/>
              </a:rPr>
              <a:t>Naukri, Indeed, and LinkedIn</a:t>
            </a:r>
            <a:r>
              <a:rPr lang="en-US" sz="2000" dirty="0">
                <a:latin typeface="Times New Roman" panose="02020603050405020304" pitchFamily="18" charset="0"/>
                <a:cs typeface="Times New Roman" panose="02020603050405020304" pitchFamily="18" charset="0"/>
              </a:rPr>
              <a:t> to explore job opportunities.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However, each portal presents information differently, making it difficult to understand true market demand.</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Job roles, required skills, experience levels, locations, and salary details are often inconsistent or incomplete.</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As a result, career decisions are frequently based on assumptions rather than data.</a:t>
            </a:r>
          </a:p>
          <a:p>
            <a:pPr algn="just">
              <a:lnSpc>
                <a:spcPct val="150000"/>
              </a:lnSpc>
            </a:pPr>
            <a:r>
              <a:rPr lang="en-US" sz="2000" b="1" dirty="0">
                <a:latin typeface="Times New Roman" panose="02020603050405020304" pitchFamily="18" charset="0"/>
                <a:cs typeface="Times New Roman" panose="02020603050405020304" pitchFamily="18" charset="0"/>
              </a:rPr>
              <a:t>This project aims to provide a data-driven understanding of the data science job market by consolidating and analyzing job postings from multiple portals.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72386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F3FFA-F2A0-2E85-B688-79C6FEE804D7}"/>
            </a:ext>
          </a:extLst>
        </p:cNvPr>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9A3F4DEC-D5E8-4246-643D-727F49761244}"/>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3" name="Title 1">
            <a:extLst>
              <a:ext uri="{FF2B5EF4-FFF2-40B4-BE49-F238E27FC236}">
                <a16:creationId xmlns:a16="http://schemas.microsoft.com/office/drawing/2014/main" id="{2553DBE1-59FA-1A71-32C8-0DA2B4B43C00}"/>
              </a:ext>
            </a:extLst>
          </p:cNvPr>
          <p:cNvSpPr txBox="1">
            <a:spLocks/>
          </p:cNvSpPr>
          <p:nvPr/>
        </p:nvSpPr>
        <p:spPr>
          <a:xfrm>
            <a:off x="674298" y="4847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Problem Statement </a:t>
            </a:r>
            <a:br>
              <a:rPr lang="en-US" sz="4000" b="1" dirty="0">
                <a:solidFill>
                  <a:srgbClr val="FF0000"/>
                </a:solidFill>
                <a:latin typeface="Times New Roman" panose="02020603050405020304" pitchFamily="18" charset="0"/>
                <a:cs typeface="Times New Roman" panose="02020603050405020304" pitchFamily="18" charset="0"/>
              </a:rPr>
            </a:br>
            <a:endParaRPr lang="en-US" sz="4000" b="1"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AC3E415-6882-4AF1-A796-5D1E8DFCEBA2}"/>
              </a:ext>
            </a:extLst>
          </p:cNvPr>
          <p:cNvSpPr txBox="1"/>
          <p:nvPr/>
        </p:nvSpPr>
        <p:spPr>
          <a:xfrm>
            <a:off x="674298" y="1145301"/>
            <a:ext cx="11169359" cy="5028556"/>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Job market information for data science roles is scattered across multiple job portals such as </a:t>
            </a:r>
            <a:r>
              <a:rPr lang="en-US" b="1" dirty="0">
                <a:latin typeface="Times New Roman" panose="02020603050405020304" pitchFamily="18" charset="0"/>
                <a:cs typeface="Times New Roman" panose="02020603050405020304" pitchFamily="18" charset="0"/>
              </a:rPr>
              <a:t>Naukri, Indeed, and LinkedIn</a:t>
            </a:r>
            <a:r>
              <a:rPr lang="en-US"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portal presents job data in different formats with varying levels of detail.</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Job seekers find it difficult to identify:</a:t>
            </a: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In-demand roles</a:t>
            </a: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Required skills</a:t>
            </a: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Suitable experience levels</a:t>
            </a: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High-opportunity locations</a:t>
            </a: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Salary transparency trends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Due to the lack of a consolidated view, career decisions are often based on incomplete or misleading information.</a:t>
            </a:r>
          </a:p>
          <a:p>
            <a:pPr algn="just">
              <a:lnSpc>
                <a:spcPct val="150000"/>
              </a:lnSpc>
            </a:pPr>
            <a:r>
              <a:rPr lang="en-US" b="1" dirty="0">
                <a:latin typeface="Times New Roman" panose="02020603050405020304" pitchFamily="18" charset="0"/>
                <a:cs typeface="Times New Roman" panose="02020603050405020304" pitchFamily="18" charset="0"/>
              </a:rPr>
              <a:t>This project aims to address this problem by collecting, cleaning, and analyzing job postings from multiple portals to provide a unified, data-driven view of the data science job market.</a:t>
            </a:r>
            <a:endParaRPr lang="en-US" dirty="0">
              <a:latin typeface="Times New Roman" panose="02020603050405020304" pitchFamily="18" charset="0"/>
              <a:cs typeface="Times New Roman" panose="02020603050405020304" pitchFamily="18" charset="0"/>
            </a:endParaRPr>
          </a:p>
        </p:txBody>
      </p:sp>
      <p:pic>
        <p:nvPicPr>
          <p:cNvPr id="4" name="Picture 4" descr="Renewable energy concept illustration | Premium Vector">
            <a:extLst>
              <a:ext uri="{FF2B5EF4-FFF2-40B4-BE49-F238E27FC236}">
                <a16:creationId xmlns:a16="http://schemas.microsoft.com/office/drawing/2014/main" id="{5B4DBB1D-4813-D389-8319-48C7F792DD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33043" y="0"/>
            <a:ext cx="1258957" cy="125895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15129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F78F9-DE56-30E2-2A65-9629E3CC171D}"/>
            </a:ext>
          </a:extLst>
        </p:cNvPr>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4BDF9EBA-6693-7DA5-665F-5ECBC0AE7414}"/>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3" name="Title 1">
            <a:extLst>
              <a:ext uri="{FF2B5EF4-FFF2-40B4-BE49-F238E27FC236}">
                <a16:creationId xmlns:a16="http://schemas.microsoft.com/office/drawing/2014/main" id="{FCE7D73F-F1A5-9286-9142-BF3B3978C61F}"/>
              </a:ext>
            </a:extLst>
          </p:cNvPr>
          <p:cNvSpPr txBox="1">
            <a:spLocks/>
          </p:cNvSpPr>
          <p:nvPr/>
        </p:nvSpPr>
        <p:spPr>
          <a:xfrm>
            <a:off x="674298" y="4847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Business Problem Statement </a:t>
            </a:r>
            <a:br>
              <a:rPr lang="en-US" sz="4000" b="1" dirty="0">
                <a:solidFill>
                  <a:srgbClr val="FF0000"/>
                </a:solidFill>
                <a:latin typeface="Times New Roman" panose="02020603050405020304" pitchFamily="18" charset="0"/>
                <a:cs typeface="Times New Roman" panose="02020603050405020304" pitchFamily="18" charset="0"/>
              </a:rPr>
            </a:br>
            <a:endParaRPr lang="en-US" sz="4000" b="1"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EE8CD08-F237-0741-3C83-A91A3D50683C}"/>
              </a:ext>
            </a:extLst>
          </p:cNvPr>
          <p:cNvSpPr txBox="1"/>
          <p:nvPr/>
        </p:nvSpPr>
        <p:spPr>
          <a:xfrm>
            <a:off x="674298" y="1145301"/>
            <a:ext cx="11169359" cy="4197559"/>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Organizations such as </a:t>
            </a:r>
            <a:r>
              <a:rPr lang="en-US" b="1" dirty="0">
                <a:latin typeface="Times New Roman" panose="02020603050405020304" pitchFamily="18" charset="0"/>
                <a:cs typeface="Times New Roman" panose="02020603050405020304" pitchFamily="18" charset="0"/>
              </a:rPr>
              <a:t>training institutes, recruitment agencies, and workforce planners</a:t>
            </a:r>
            <a:r>
              <a:rPr lang="en-US" dirty="0">
                <a:latin typeface="Times New Roman" panose="02020603050405020304" pitchFamily="18" charset="0"/>
                <a:cs typeface="Times New Roman" panose="02020603050405020304" pitchFamily="18" charset="0"/>
              </a:rPr>
              <a:t> rely on job market data to guide career recommendations and hiring strategies.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However, job market insights derived from a </a:t>
            </a:r>
            <a:r>
              <a:rPr lang="en-US" b="1" dirty="0">
                <a:latin typeface="Times New Roman" panose="02020603050405020304" pitchFamily="18" charset="0"/>
                <a:cs typeface="Times New Roman" panose="02020603050405020304" pitchFamily="18" charset="0"/>
              </a:rPr>
              <a:t>single job portal</a:t>
            </a:r>
            <a:r>
              <a:rPr lang="en-US" dirty="0">
                <a:latin typeface="Times New Roman" panose="02020603050405020304" pitchFamily="18" charset="0"/>
                <a:cs typeface="Times New Roman" panose="02020603050405020304" pitchFamily="18" charset="0"/>
              </a:rPr>
              <a:t> provide only a partial and sometimes misleading view of actual demand.</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Differences in job roles, skill requirements, experience levels, and salary disclosure across portals make it difficult to understand true market trends.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Without a consolidated and data-driven analysis, businesses and job seekers risk </a:t>
            </a:r>
            <a:r>
              <a:rPr lang="en-US" b="1" dirty="0">
                <a:latin typeface="Times New Roman" panose="02020603050405020304" pitchFamily="18" charset="0"/>
                <a:cs typeface="Times New Roman" panose="02020603050405020304" pitchFamily="18" charset="0"/>
              </a:rPr>
              <a:t>misaligned skill development and hiring decisions</a:t>
            </a:r>
            <a:r>
              <a:rPr lang="en-US" dirty="0">
                <a:latin typeface="Times New Roman" panose="02020603050405020304" pitchFamily="18" charset="0"/>
                <a:cs typeface="Times New Roman" panose="02020603050405020304" pitchFamily="18" charset="0"/>
              </a:rPr>
              <a:t>.</a:t>
            </a:r>
          </a:p>
          <a:p>
            <a:pPr algn="just">
              <a:lnSpc>
                <a:spcPct val="150000"/>
              </a:lnSpc>
            </a:pPr>
            <a:r>
              <a:rPr lang="en-US" b="1" dirty="0">
                <a:latin typeface="Times New Roman" panose="02020603050405020304" pitchFamily="18" charset="0"/>
                <a:cs typeface="Times New Roman" panose="02020603050405020304" pitchFamily="18" charset="0"/>
              </a:rPr>
              <a:t>This project addresses the business problem by aggregating job postings from multiple portals and analyzing them to generate actionable insights into the data science job market.</a:t>
            </a:r>
            <a:endParaRPr lang="en-US" dirty="0">
              <a:latin typeface="Times New Roman" panose="02020603050405020304" pitchFamily="18" charset="0"/>
              <a:cs typeface="Times New Roman" panose="02020603050405020304" pitchFamily="18" charset="0"/>
            </a:endParaRPr>
          </a:p>
        </p:txBody>
      </p:sp>
      <p:pic>
        <p:nvPicPr>
          <p:cNvPr id="4" name="Picture 4" descr="Renewable energy concept illustration | Premium Vector">
            <a:extLst>
              <a:ext uri="{FF2B5EF4-FFF2-40B4-BE49-F238E27FC236}">
                <a16:creationId xmlns:a16="http://schemas.microsoft.com/office/drawing/2014/main" id="{BD3ECA1E-0A56-27CB-C26B-1B7824872F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33043" y="0"/>
            <a:ext cx="1258957" cy="125895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78584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42C3C-C547-FD27-119C-4AE561E42B83}"/>
            </a:ext>
          </a:extLst>
        </p:cNvPr>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A4900404-5D34-BD26-B6A4-71521F8A4041}"/>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3" name="Title 1">
            <a:extLst>
              <a:ext uri="{FF2B5EF4-FFF2-40B4-BE49-F238E27FC236}">
                <a16:creationId xmlns:a16="http://schemas.microsoft.com/office/drawing/2014/main" id="{05111582-25E9-8788-BB78-C48711A0F7C8}"/>
              </a:ext>
            </a:extLst>
          </p:cNvPr>
          <p:cNvSpPr txBox="1">
            <a:spLocks/>
          </p:cNvSpPr>
          <p:nvPr/>
        </p:nvSpPr>
        <p:spPr>
          <a:xfrm>
            <a:off x="674298" y="4847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Objective</a:t>
            </a:r>
          </a:p>
        </p:txBody>
      </p:sp>
      <p:sp>
        <p:nvSpPr>
          <p:cNvPr id="6" name="TextBox 5">
            <a:extLst>
              <a:ext uri="{FF2B5EF4-FFF2-40B4-BE49-F238E27FC236}">
                <a16:creationId xmlns:a16="http://schemas.microsoft.com/office/drawing/2014/main" id="{325AA171-6B6D-32DD-208A-28EA1027CAD5}"/>
              </a:ext>
            </a:extLst>
          </p:cNvPr>
          <p:cNvSpPr txBox="1"/>
          <p:nvPr/>
        </p:nvSpPr>
        <p:spPr>
          <a:xfrm>
            <a:off x="674298" y="1156185"/>
            <a:ext cx="10559759" cy="419198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Analyze data science job postings collected from multiple job portals to understand overall hiring trends.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Identify the most in-demand </a:t>
            </a:r>
            <a:r>
              <a:rPr lang="en-US" sz="2000" b="1" dirty="0">
                <a:latin typeface="Times New Roman" panose="02020603050405020304" pitchFamily="18" charset="0"/>
                <a:cs typeface="Times New Roman" panose="02020603050405020304" pitchFamily="18" charset="0"/>
              </a:rPr>
              <a:t>job roles</a:t>
            </a:r>
            <a:r>
              <a:rPr lang="en-US" sz="2000" dirty="0">
                <a:latin typeface="Times New Roman" panose="02020603050405020304" pitchFamily="18" charset="0"/>
                <a:cs typeface="Times New Roman" panose="02020603050405020304" pitchFamily="18" charset="0"/>
              </a:rPr>
              <a:t> in the data science domain.</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Determine the most frequently required </a:t>
            </a:r>
            <a:r>
              <a:rPr lang="en-US" sz="2000" b="1" dirty="0">
                <a:latin typeface="Times New Roman" panose="02020603050405020304" pitchFamily="18" charset="0"/>
                <a:cs typeface="Times New Roman" panose="02020603050405020304" pitchFamily="18" charset="0"/>
              </a:rPr>
              <a:t>technical skills</a:t>
            </a:r>
            <a:r>
              <a:rPr lang="en-US" sz="2000" dirty="0">
                <a:latin typeface="Times New Roman" panose="02020603050405020304" pitchFamily="18" charset="0"/>
                <a:cs typeface="Times New Roman" panose="02020603050405020304" pitchFamily="18" charset="0"/>
              </a:rPr>
              <a:t> across roles.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Analyze </a:t>
            </a:r>
            <a:r>
              <a:rPr lang="en-US" sz="2000" b="1" dirty="0">
                <a:latin typeface="Times New Roman" panose="02020603050405020304" pitchFamily="18" charset="0"/>
                <a:cs typeface="Times New Roman" panose="02020603050405020304" pitchFamily="18" charset="0"/>
              </a:rPr>
              <a:t>experience-level distribution</a:t>
            </a:r>
            <a:r>
              <a:rPr lang="en-US" sz="2000" dirty="0">
                <a:latin typeface="Times New Roman" panose="02020603050405020304" pitchFamily="18" charset="0"/>
                <a:cs typeface="Times New Roman" panose="02020603050405020304" pitchFamily="18" charset="0"/>
              </a:rPr>
              <a:t> to assess market accessibility for freshers and early-career professionals.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Study </a:t>
            </a:r>
            <a:r>
              <a:rPr lang="en-US" sz="2000" b="1" dirty="0">
                <a:latin typeface="Times New Roman" panose="02020603050405020304" pitchFamily="18" charset="0"/>
                <a:cs typeface="Times New Roman" panose="02020603050405020304" pitchFamily="18" charset="0"/>
              </a:rPr>
              <a:t>location-wise job distribution</a:t>
            </a:r>
            <a:r>
              <a:rPr lang="en-US" sz="2000" dirty="0">
                <a:latin typeface="Times New Roman" panose="02020603050405020304" pitchFamily="18" charset="0"/>
                <a:cs typeface="Times New Roman" panose="02020603050405020304" pitchFamily="18" charset="0"/>
              </a:rPr>
              <a:t> to identify major hiring hubs.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Compare hiring patterns across </a:t>
            </a:r>
            <a:r>
              <a:rPr lang="en-US" sz="2000" b="1" dirty="0">
                <a:latin typeface="Times New Roman" panose="02020603050405020304" pitchFamily="18" charset="0"/>
                <a:cs typeface="Times New Roman" panose="02020603050405020304" pitchFamily="18" charset="0"/>
              </a:rPr>
              <a:t>Naukri, Indeed, and LinkedIn</a:t>
            </a:r>
            <a:r>
              <a:rPr lang="en-US" sz="2000" dirty="0">
                <a:latin typeface="Times New Roman" panose="02020603050405020304" pitchFamily="18" charset="0"/>
                <a:cs typeface="Times New Roman" panose="02020603050405020304" pitchFamily="18" charset="0"/>
              </a:rPr>
              <a:t>.</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Examine </a:t>
            </a:r>
            <a:r>
              <a:rPr lang="en-US" sz="2000" b="1" dirty="0">
                <a:latin typeface="Times New Roman" panose="02020603050405020304" pitchFamily="18" charset="0"/>
                <a:cs typeface="Times New Roman" panose="02020603050405020304" pitchFamily="18" charset="0"/>
              </a:rPr>
              <a:t>salary disclosure behavior</a:t>
            </a:r>
            <a:r>
              <a:rPr lang="en-US" sz="2000" dirty="0">
                <a:latin typeface="Times New Roman" panose="02020603050405020304" pitchFamily="18" charset="0"/>
                <a:cs typeface="Times New Roman" panose="02020603050405020304" pitchFamily="18" charset="0"/>
              </a:rPr>
              <a:t> across roles and experience levels.</a:t>
            </a:r>
          </a:p>
        </p:txBody>
      </p:sp>
      <p:pic>
        <p:nvPicPr>
          <p:cNvPr id="1026" name="Picture 2" descr="Objective Images - Free Download on Freepik">
            <a:extLst>
              <a:ext uri="{FF2B5EF4-FFF2-40B4-BE49-F238E27FC236}">
                <a16:creationId xmlns:a16="http://schemas.microsoft.com/office/drawing/2014/main" id="{9CD56290-22D0-5C78-2D0D-DCB7742E84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6018" y="40282"/>
            <a:ext cx="1105019" cy="110501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9814859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47BC7-D0F7-6F7B-57B2-F9FF07AC04D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19FB586-CD50-6B94-AD23-4B8D645B4CF2}"/>
              </a:ext>
            </a:extLst>
          </p:cNvPr>
          <p:cNvSpPr txBox="1">
            <a:spLocks/>
          </p:cNvSpPr>
          <p:nvPr/>
        </p:nvSpPr>
        <p:spPr>
          <a:xfrm>
            <a:off x="576327" y="282562"/>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Data Collection &amp; Merging</a:t>
            </a:r>
          </a:p>
        </p:txBody>
      </p:sp>
      <p:pic>
        <p:nvPicPr>
          <p:cNvPr id="7" name="Picture 6" descr="A close up of a logo&#10;&#10;AI-generated content may be incorrect.">
            <a:extLst>
              <a:ext uri="{FF2B5EF4-FFF2-40B4-BE49-F238E27FC236}">
                <a16:creationId xmlns:a16="http://schemas.microsoft.com/office/drawing/2014/main" id="{FBADC8C0-24FE-2653-93E9-90C614F539E0}"/>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5" name="TextBox 4">
            <a:extLst>
              <a:ext uri="{FF2B5EF4-FFF2-40B4-BE49-F238E27FC236}">
                <a16:creationId xmlns:a16="http://schemas.microsoft.com/office/drawing/2014/main" id="{F4473823-A990-4071-2793-36FE5CAFC4C5}"/>
              </a:ext>
            </a:extLst>
          </p:cNvPr>
          <p:cNvSpPr txBox="1"/>
          <p:nvPr/>
        </p:nvSpPr>
        <p:spPr>
          <a:xfrm>
            <a:off x="576326" y="861323"/>
            <a:ext cx="10575377" cy="212006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Job postings collected from </a:t>
            </a:r>
            <a:r>
              <a:rPr lang="en-US" b="1" dirty="0">
                <a:latin typeface="Times New Roman" panose="02020603050405020304" pitchFamily="18" charset="0"/>
                <a:cs typeface="Times New Roman" panose="02020603050405020304" pitchFamily="18" charset="0"/>
              </a:rPr>
              <a:t>Naukri, Indeed, and LinkedIn</a:t>
            </a:r>
            <a:r>
              <a:rPr lang="en-US" dirty="0">
                <a:latin typeface="Times New Roman" panose="02020603050405020304" pitchFamily="18" charset="0"/>
                <a:cs typeface="Times New Roman" panose="02020603050405020304" pitchFamily="18" charset="0"/>
              </a:rPr>
              <a:t> were merged into a single dataset.</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 datasets were aligned using a </a:t>
            </a:r>
            <a:r>
              <a:rPr lang="en-US" b="1" dirty="0">
                <a:latin typeface="Times New Roman" panose="02020603050405020304" pitchFamily="18" charset="0"/>
                <a:cs typeface="Times New Roman" panose="02020603050405020304" pitchFamily="18" charset="0"/>
              </a:rPr>
              <a:t>common column structure</a:t>
            </a:r>
            <a:r>
              <a:rPr lang="en-US"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new column, </a:t>
            </a:r>
            <a:r>
              <a:rPr lang="en-US" b="1" dirty="0">
                <a:latin typeface="Times New Roman" panose="02020603050405020304" pitchFamily="18" charset="0"/>
                <a:cs typeface="Times New Roman" panose="02020603050405020304" pitchFamily="18" charset="0"/>
              </a:rPr>
              <a:t>Job_Site_Name</a:t>
            </a:r>
            <a:r>
              <a:rPr lang="en-US" dirty="0">
                <a:latin typeface="Times New Roman" panose="02020603050405020304" pitchFamily="18" charset="0"/>
                <a:cs typeface="Times New Roman" panose="02020603050405020304" pitchFamily="18" charset="0"/>
              </a:rPr>
              <a:t>, was added to identify the source job portal.</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Merging allowed comparison of hiring patterns across different platforms.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Duplicate and inconsistent records became more visible after consolidation.</a:t>
            </a:r>
          </a:p>
        </p:txBody>
      </p:sp>
      <p:pic>
        <p:nvPicPr>
          <p:cNvPr id="3" name="Picture 2">
            <a:extLst>
              <a:ext uri="{FF2B5EF4-FFF2-40B4-BE49-F238E27FC236}">
                <a16:creationId xmlns:a16="http://schemas.microsoft.com/office/drawing/2014/main" id="{09DD7884-3FD6-6190-0787-5CD1F2992E42}"/>
              </a:ext>
            </a:extLst>
          </p:cNvPr>
          <p:cNvPicPr>
            <a:picLocks noChangeAspect="1"/>
          </p:cNvPicPr>
          <p:nvPr/>
        </p:nvPicPr>
        <p:blipFill>
          <a:blip r:embed="rId4"/>
          <a:stretch>
            <a:fillRect/>
          </a:stretch>
        </p:blipFill>
        <p:spPr>
          <a:xfrm>
            <a:off x="576326" y="3066606"/>
            <a:ext cx="8259418" cy="3359940"/>
          </a:xfrm>
          <a:prstGeom prst="rect">
            <a:avLst/>
          </a:prstGeom>
        </p:spPr>
      </p:pic>
    </p:spTree>
    <p:extLst>
      <p:ext uri="{BB962C8B-B14F-4D97-AF65-F5344CB8AC3E}">
        <p14:creationId xmlns:p14="http://schemas.microsoft.com/office/powerpoint/2010/main" val="6620310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D8021-54C2-FC4F-6863-FAE83B6DDFF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006D067-0ED2-5746-6E5C-C1064327ACAC}"/>
              </a:ext>
            </a:extLst>
          </p:cNvPr>
          <p:cNvSpPr txBox="1">
            <a:spLocks/>
          </p:cNvSpPr>
          <p:nvPr/>
        </p:nvSpPr>
        <p:spPr>
          <a:xfrm>
            <a:off x="576327" y="282562"/>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Data Understanding</a:t>
            </a:r>
          </a:p>
        </p:txBody>
      </p:sp>
      <p:pic>
        <p:nvPicPr>
          <p:cNvPr id="7" name="Picture 6" descr="A close up of a logo&#10;&#10;AI-generated content may be incorrect.">
            <a:extLst>
              <a:ext uri="{FF2B5EF4-FFF2-40B4-BE49-F238E27FC236}">
                <a16:creationId xmlns:a16="http://schemas.microsoft.com/office/drawing/2014/main" id="{463B4E24-FB08-E1B6-9EE5-BB3AF35A9F23}"/>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pic>
        <p:nvPicPr>
          <p:cNvPr id="6" name="Picture 5">
            <a:extLst>
              <a:ext uri="{FF2B5EF4-FFF2-40B4-BE49-F238E27FC236}">
                <a16:creationId xmlns:a16="http://schemas.microsoft.com/office/drawing/2014/main" id="{B703F48C-3ECD-BA21-9217-DFC6C4FE5D1A}"/>
              </a:ext>
            </a:extLst>
          </p:cNvPr>
          <p:cNvPicPr>
            <a:picLocks noChangeAspect="1"/>
          </p:cNvPicPr>
          <p:nvPr/>
        </p:nvPicPr>
        <p:blipFill>
          <a:blip r:embed="rId4"/>
          <a:stretch>
            <a:fillRect/>
          </a:stretch>
        </p:blipFill>
        <p:spPr>
          <a:xfrm>
            <a:off x="7475096" y="612844"/>
            <a:ext cx="3835634" cy="2943730"/>
          </a:xfrm>
          <a:prstGeom prst="rect">
            <a:avLst/>
          </a:prstGeom>
        </p:spPr>
      </p:pic>
      <p:pic>
        <p:nvPicPr>
          <p:cNvPr id="9" name="Picture 8">
            <a:extLst>
              <a:ext uri="{FF2B5EF4-FFF2-40B4-BE49-F238E27FC236}">
                <a16:creationId xmlns:a16="http://schemas.microsoft.com/office/drawing/2014/main" id="{085E1FDF-4772-4223-4232-B241DA74AFFA}"/>
              </a:ext>
            </a:extLst>
          </p:cNvPr>
          <p:cNvPicPr>
            <a:picLocks noChangeAspect="1"/>
          </p:cNvPicPr>
          <p:nvPr/>
        </p:nvPicPr>
        <p:blipFill>
          <a:blip r:embed="rId5"/>
          <a:stretch>
            <a:fillRect/>
          </a:stretch>
        </p:blipFill>
        <p:spPr>
          <a:xfrm>
            <a:off x="7673920" y="3561798"/>
            <a:ext cx="3636810" cy="2342046"/>
          </a:xfrm>
          <a:prstGeom prst="rect">
            <a:avLst/>
          </a:prstGeom>
        </p:spPr>
      </p:pic>
      <p:sp>
        <p:nvSpPr>
          <p:cNvPr id="14" name="TextBox 13">
            <a:extLst>
              <a:ext uri="{FF2B5EF4-FFF2-40B4-BE49-F238E27FC236}">
                <a16:creationId xmlns:a16="http://schemas.microsoft.com/office/drawing/2014/main" id="{FDFA6F00-97E3-898A-86B8-3245B0DED6F3}"/>
              </a:ext>
            </a:extLst>
          </p:cNvPr>
          <p:cNvSpPr txBox="1"/>
          <p:nvPr/>
        </p:nvSpPr>
        <p:spPr>
          <a:xfrm>
            <a:off x="576327" y="943127"/>
            <a:ext cx="6987351" cy="5539080"/>
          </a:xfrm>
          <a:prstGeom prst="rect">
            <a:avLst/>
          </a:prstGeom>
          <a:noFill/>
        </p:spPr>
        <p:txBody>
          <a:bodyPr wrap="square">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7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Initial dataset contained 3570 job postings across 8 columns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7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included job title, company, experience, salary, location, skills, posting date, and job portal</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7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Several columns had missing values, especially:</a:t>
            </a:r>
          </a:p>
          <a:p>
            <a:pPr marL="742950" lvl="1" indent="-285750" algn="just" eaLnBrk="0" fontAlgn="base" hangingPunct="0">
              <a:lnSpc>
                <a:spcPct val="150000"/>
              </a:lnSpc>
              <a:spcBef>
                <a:spcPct val="0"/>
              </a:spcBef>
              <a:spcAft>
                <a:spcPct val="0"/>
              </a:spcAft>
              <a:buFont typeface="Arial" panose="020B0604020202020204" pitchFamily="34" charset="0"/>
              <a:buChar char="•"/>
            </a:pPr>
            <a:r>
              <a:rPr kumimoji="0" lang="en-US" altLang="en-US" sz="17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Skills (84 missing)</a:t>
            </a:r>
          </a:p>
          <a:p>
            <a:pPr marL="742950" lvl="1" indent="-285750" algn="just">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Salary, Experience, and Location contained business-level placeholders rather than true missing values (e.g., Not Available, Not Disclosed, Not Mentioned).</a:t>
            </a:r>
          </a:p>
          <a:p>
            <a:pPr marL="285750" lvl="1" indent="-285750" algn="just">
              <a:lnSpc>
                <a:spcPct val="150000"/>
              </a:lnSpc>
              <a:buFont typeface="Arial" panose="020B0604020202020204" pitchFamily="34" charset="0"/>
              <a:buChar char="•"/>
            </a:pPr>
            <a:r>
              <a:rPr lang="en-US" altLang="en-US" sz="1700" dirty="0">
                <a:latin typeface="Times New Roman" panose="02020603050405020304" pitchFamily="18" charset="0"/>
                <a:cs typeface="Times New Roman" panose="02020603050405020304" pitchFamily="18" charset="0"/>
              </a:rPr>
              <a:t>1437 duplicate job postings detected due to:</a:t>
            </a:r>
            <a:endParaRPr lang="en-US" sz="1700" dirty="0">
              <a:latin typeface="Times New Roman" panose="02020603050405020304" pitchFamily="18" charset="0"/>
              <a:cs typeface="Times New Roman" panose="02020603050405020304" pitchFamily="18" charset="0"/>
            </a:endParaRPr>
          </a:p>
          <a:p>
            <a:pPr marL="742950" lvl="1" indent="-285750" algn="just" eaLnBrk="0" fontAlgn="base" hangingPunct="0">
              <a:lnSpc>
                <a:spcPct val="150000"/>
              </a:lnSpc>
              <a:spcBef>
                <a:spcPct val="0"/>
              </a:spcBef>
              <a:spcAft>
                <a:spcPct val="0"/>
              </a:spcAft>
              <a:buFont typeface="Arial" panose="020B0604020202020204" pitchFamily="34" charset="0"/>
              <a:buChar char="•"/>
            </a:pPr>
            <a:r>
              <a:rPr kumimoji="0" lang="en-US" altLang="en-US" sz="17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Same jobs reposted across multiple portals</a:t>
            </a:r>
          </a:p>
          <a:p>
            <a:pPr marL="742950" lvl="1" indent="-285750" algn="just" eaLnBrk="0" fontAlgn="base" hangingPunct="0">
              <a:lnSpc>
                <a:spcPct val="150000"/>
              </a:lnSpc>
              <a:spcBef>
                <a:spcPct val="0"/>
              </a:spcBef>
              <a:spcAft>
                <a:spcPct val="0"/>
              </a:spcAft>
              <a:buFont typeface="Arial" panose="020B0604020202020204" pitchFamily="34" charset="0"/>
              <a:buChar char="•"/>
            </a:pPr>
            <a:r>
              <a:rPr kumimoji="0" lang="en-US" altLang="en-US" sz="17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Repeated listings by companies</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sz="1700" dirty="0">
                <a:latin typeface="Times New Roman" panose="02020603050405020304" pitchFamily="18" charset="0"/>
                <a:cs typeface="Times New Roman" panose="02020603050405020304" pitchFamily="18" charset="0"/>
              </a:rPr>
              <a:t>Duplicate records were identified but not removed at this stage</a:t>
            </a:r>
          </a:p>
          <a:p>
            <a:pPr marL="285750" indent="-285750" algn="just">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Raw job posting data was unstructured and inconsistent, requiring systematic cleaning before analysis</a:t>
            </a:r>
          </a:p>
        </p:txBody>
      </p:sp>
    </p:spTree>
    <p:extLst>
      <p:ext uri="{BB962C8B-B14F-4D97-AF65-F5344CB8AC3E}">
        <p14:creationId xmlns:p14="http://schemas.microsoft.com/office/powerpoint/2010/main" val="9469824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C7D2A-A118-BADB-6B0A-55DCA2A8630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50DB2B7-5413-8E5B-441E-38E809D08685}"/>
              </a:ext>
            </a:extLst>
          </p:cNvPr>
          <p:cNvSpPr txBox="1">
            <a:spLocks/>
          </p:cNvSpPr>
          <p:nvPr/>
        </p:nvSpPr>
        <p:spPr>
          <a:xfrm>
            <a:off x="576326" y="125902"/>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Data Cleaning</a:t>
            </a:r>
          </a:p>
        </p:txBody>
      </p:sp>
      <p:pic>
        <p:nvPicPr>
          <p:cNvPr id="7" name="Picture 6" descr="A close up of a logo&#10;&#10;AI-generated content may be incorrect.">
            <a:extLst>
              <a:ext uri="{FF2B5EF4-FFF2-40B4-BE49-F238E27FC236}">
                <a16:creationId xmlns:a16="http://schemas.microsoft.com/office/drawing/2014/main" id="{DD4F50A5-CB5C-43E0-3E0C-E920100F57E8}"/>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14" name="TextBox 13">
            <a:extLst>
              <a:ext uri="{FF2B5EF4-FFF2-40B4-BE49-F238E27FC236}">
                <a16:creationId xmlns:a16="http://schemas.microsoft.com/office/drawing/2014/main" id="{D2051002-5726-0A71-CA87-E4A9BC059C5D}"/>
              </a:ext>
            </a:extLst>
          </p:cNvPr>
          <p:cNvSpPr txBox="1"/>
          <p:nvPr/>
        </p:nvSpPr>
        <p:spPr>
          <a:xfrm>
            <a:off x="576326" y="641712"/>
            <a:ext cx="11271116" cy="458074"/>
          </a:xfrm>
          <a:prstGeom prst="rect">
            <a:avLst/>
          </a:prstGeom>
          <a:noFill/>
        </p:spPr>
        <p:txBody>
          <a:bodyPr wrap="square">
            <a:spAutoFit/>
          </a:bodyPr>
          <a:lstStyle/>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Raw job posting data contained masked, inconsistent, and incomplete values due to differences across job portals.</a:t>
            </a:r>
          </a:p>
        </p:txBody>
      </p:sp>
      <p:grpSp>
        <p:nvGrpSpPr>
          <p:cNvPr id="23" name="Group 22">
            <a:extLst>
              <a:ext uri="{FF2B5EF4-FFF2-40B4-BE49-F238E27FC236}">
                <a16:creationId xmlns:a16="http://schemas.microsoft.com/office/drawing/2014/main" id="{46ACACBB-B8EA-7079-7EAC-4FB3F214ED6F}"/>
              </a:ext>
            </a:extLst>
          </p:cNvPr>
          <p:cNvGrpSpPr/>
          <p:nvPr/>
        </p:nvGrpSpPr>
        <p:grpSpPr>
          <a:xfrm>
            <a:off x="848716" y="1137053"/>
            <a:ext cx="11366955" cy="2831544"/>
            <a:chOff x="848716" y="1457794"/>
            <a:chExt cx="11366955" cy="2831544"/>
          </a:xfrm>
        </p:grpSpPr>
        <p:sp>
          <p:nvSpPr>
            <p:cNvPr id="8" name="TextBox 7">
              <a:extLst>
                <a:ext uri="{FF2B5EF4-FFF2-40B4-BE49-F238E27FC236}">
                  <a16:creationId xmlns:a16="http://schemas.microsoft.com/office/drawing/2014/main" id="{8F7F1505-07B9-A9C5-FD8E-C211DCF72017}"/>
                </a:ext>
              </a:extLst>
            </p:cNvPr>
            <p:cNvSpPr txBox="1"/>
            <p:nvPr/>
          </p:nvSpPr>
          <p:spPr>
            <a:xfrm>
              <a:off x="848716" y="1457794"/>
              <a:ext cx="5208247" cy="2831544"/>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Handling Missing &amp; Masked Values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True missing values (NaN) were replaced with meaningful business labels:</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Salary → Not Disclosed</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Experience → Not Mentioned</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Location → Not Mentioned</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Skills → Not Specified</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Job Post Date → Not Mentioned</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Business placeholders such as Not Disclosed, Not Mentioned, and Not Available were retained and not treated as missing data.</a:t>
              </a:r>
            </a:p>
          </p:txBody>
        </p:sp>
        <p:sp>
          <p:nvSpPr>
            <p:cNvPr id="13" name="TextBox 12">
              <a:extLst>
                <a:ext uri="{FF2B5EF4-FFF2-40B4-BE49-F238E27FC236}">
                  <a16:creationId xmlns:a16="http://schemas.microsoft.com/office/drawing/2014/main" id="{B749BA9E-D69B-88AA-BD20-60DC2B842129}"/>
                </a:ext>
              </a:extLst>
            </p:cNvPr>
            <p:cNvSpPr txBox="1"/>
            <p:nvPr/>
          </p:nvSpPr>
          <p:spPr>
            <a:xfrm>
              <a:off x="6590124" y="1494484"/>
              <a:ext cx="5625547" cy="2646878"/>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Duplicate Record Handling</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Duplicate job postings were identified using:</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Job Title</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Company</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Location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Duplicates occurred mainly due to:</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Same job posted across multiple job portals</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Repeated listings by companies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Duplicate postings were removed to avoid overestimating job demand.</a:t>
              </a:r>
              <a:endParaRPr lang="en-US" dirty="0">
                <a:latin typeface="Times New Roman" panose="02020603050405020304" pitchFamily="18" charset="0"/>
                <a:cs typeface="Times New Roman" panose="02020603050405020304" pitchFamily="18" charset="0"/>
              </a:endParaRPr>
            </a:p>
          </p:txBody>
        </p:sp>
      </p:grpSp>
      <p:sp>
        <p:nvSpPr>
          <p:cNvPr id="18" name="TextBox 17">
            <a:extLst>
              <a:ext uri="{FF2B5EF4-FFF2-40B4-BE49-F238E27FC236}">
                <a16:creationId xmlns:a16="http://schemas.microsoft.com/office/drawing/2014/main" id="{C90E63FF-E75D-EDD1-9AF2-F354382C9234}"/>
              </a:ext>
            </a:extLst>
          </p:cNvPr>
          <p:cNvSpPr txBox="1"/>
          <p:nvPr/>
        </p:nvSpPr>
        <p:spPr>
          <a:xfrm>
            <a:off x="848716" y="3933992"/>
            <a:ext cx="9839883" cy="2679580"/>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Final Clean Dataset</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Dataset size reduced from 3570 to 3319 job postings after </a:t>
            </a:r>
          </a:p>
          <a:p>
            <a:pPr>
              <a:lnSpc>
                <a:spcPct val="150000"/>
              </a:lnSpc>
            </a:pPr>
            <a:r>
              <a:rPr lang="en-US" sz="1600" dirty="0">
                <a:latin typeface="Times New Roman" panose="02020603050405020304" pitchFamily="18" charset="0"/>
                <a:cs typeface="Times New Roman" panose="02020603050405020304" pitchFamily="18" charset="0"/>
              </a:rPr>
              <a:t>      cleaning.</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All fields contained valid, analysis-ready values.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Clean dataset enabled accurate EDA and hypothesis testing.</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Cleaning improved data quality while preserving real-world </a:t>
            </a:r>
          </a:p>
          <a:p>
            <a:pPr>
              <a:lnSpc>
                <a:spcPct val="150000"/>
              </a:lnSpc>
            </a:pPr>
            <a:r>
              <a:rPr lang="en-US" sz="1600" dirty="0">
                <a:latin typeface="Times New Roman" panose="02020603050405020304" pitchFamily="18" charset="0"/>
                <a:cs typeface="Times New Roman" panose="02020603050405020304" pitchFamily="18" charset="0"/>
              </a:rPr>
              <a:t>      hiring patterns.</a:t>
            </a:r>
          </a:p>
        </p:txBody>
      </p:sp>
      <p:pic>
        <p:nvPicPr>
          <p:cNvPr id="20" name="Picture 19">
            <a:extLst>
              <a:ext uri="{FF2B5EF4-FFF2-40B4-BE49-F238E27FC236}">
                <a16:creationId xmlns:a16="http://schemas.microsoft.com/office/drawing/2014/main" id="{F797C14F-77C7-9308-B737-722C3F1AC8F5}"/>
              </a:ext>
            </a:extLst>
          </p:cNvPr>
          <p:cNvPicPr>
            <a:picLocks noChangeAspect="1"/>
          </p:cNvPicPr>
          <p:nvPr/>
        </p:nvPicPr>
        <p:blipFill>
          <a:blip r:embed="rId4"/>
          <a:stretch>
            <a:fillRect/>
          </a:stretch>
        </p:blipFill>
        <p:spPr>
          <a:xfrm>
            <a:off x="6518380" y="3759629"/>
            <a:ext cx="2595139" cy="2512095"/>
          </a:xfrm>
          <a:prstGeom prst="rect">
            <a:avLst/>
          </a:prstGeom>
        </p:spPr>
      </p:pic>
      <p:pic>
        <p:nvPicPr>
          <p:cNvPr id="22" name="Picture 21">
            <a:extLst>
              <a:ext uri="{FF2B5EF4-FFF2-40B4-BE49-F238E27FC236}">
                <a16:creationId xmlns:a16="http://schemas.microsoft.com/office/drawing/2014/main" id="{144F8637-55FA-15D8-21FC-0E0F2C65B4EB}"/>
              </a:ext>
            </a:extLst>
          </p:cNvPr>
          <p:cNvPicPr>
            <a:picLocks noChangeAspect="1"/>
          </p:cNvPicPr>
          <p:nvPr/>
        </p:nvPicPr>
        <p:blipFill>
          <a:blip r:embed="rId5"/>
          <a:stretch>
            <a:fillRect/>
          </a:stretch>
        </p:blipFill>
        <p:spPr>
          <a:xfrm>
            <a:off x="9113519" y="3759629"/>
            <a:ext cx="2769056" cy="911762"/>
          </a:xfrm>
          <a:prstGeom prst="rect">
            <a:avLst/>
          </a:prstGeom>
        </p:spPr>
      </p:pic>
    </p:spTree>
    <p:extLst>
      <p:ext uri="{BB962C8B-B14F-4D97-AF65-F5344CB8AC3E}">
        <p14:creationId xmlns:p14="http://schemas.microsoft.com/office/powerpoint/2010/main" val="683381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C9D2EED-69BA-3FA0-1CA0-E3F900F2CA04}"/>
              </a:ext>
            </a:extLst>
          </p:cNvPr>
          <p:cNvSpPr txBox="1">
            <a:spLocks/>
          </p:cNvSpPr>
          <p:nvPr/>
        </p:nvSpPr>
        <p:spPr>
          <a:xfrm>
            <a:off x="576327" y="282562"/>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Data Features</a:t>
            </a:r>
          </a:p>
        </p:txBody>
      </p:sp>
      <p:pic>
        <p:nvPicPr>
          <p:cNvPr id="7" name="Picture 6" descr="A close up of a logo&#10;&#10;AI-generated content may be incorrect.">
            <a:extLst>
              <a:ext uri="{FF2B5EF4-FFF2-40B4-BE49-F238E27FC236}">
                <a16:creationId xmlns:a16="http://schemas.microsoft.com/office/drawing/2014/main" id="{B9C9DEC8-AF87-F972-92A5-599256524BF8}"/>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5" name="TextBox 4">
            <a:extLst>
              <a:ext uri="{FF2B5EF4-FFF2-40B4-BE49-F238E27FC236}">
                <a16:creationId xmlns:a16="http://schemas.microsoft.com/office/drawing/2014/main" id="{1DBD9EA9-0F9F-56DA-5196-99F8F379348F}"/>
              </a:ext>
            </a:extLst>
          </p:cNvPr>
          <p:cNvSpPr txBox="1"/>
          <p:nvPr/>
        </p:nvSpPr>
        <p:spPr>
          <a:xfrm>
            <a:off x="576327" y="1013218"/>
            <a:ext cx="7941508" cy="4439933"/>
          </a:xfrm>
          <a:prstGeom prst="rect">
            <a:avLst/>
          </a:prstGeom>
          <a:noFill/>
        </p:spPr>
        <p:txBody>
          <a:bodyPr wrap="square">
            <a:spAutoFit/>
          </a:bodyPr>
          <a:lstStyle/>
          <a:p>
            <a:pPr marL="0" marR="0" lvl="0" indent="0" algn="just" defTabSz="914400" rtl="0" eaLnBrk="0" fontAlgn="base" latinLnBrk="0" hangingPunct="0">
              <a:lnSpc>
                <a:spcPct val="2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Job Title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Role name as mentioned in the job posting</a:t>
            </a:r>
          </a:p>
          <a:p>
            <a:pPr marL="0" marR="0" lvl="0" indent="0" algn="just" defTabSz="914400" rtl="0" eaLnBrk="0" fontAlgn="base" latinLnBrk="0" hangingPunct="0">
              <a:lnSpc>
                <a:spcPct val="2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Company Name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Organization offering the job</a:t>
            </a:r>
          </a:p>
          <a:p>
            <a:pPr marL="0" marR="0" lvl="0" indent="0" algn="just" defTabSz="914400" rtl="0" eaLnBrk="0" fontAlgn="base" latinLnBrk="0" hangingPunct="0">
              <a:lnSpc>
                <a:spcPct val="2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Location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City or region of the job</a:t>
            </a:r>
          </a:p>
          <a:p>
            <a:pPr marL="0" marR="0" lvl="0" indent="0" algn="just" defTabSz="914400" rtl="0" eaLnBrk="0" fontAlgn="base" latinLnBrk="0" hangingPunct="0">
              <a:lnSpc>
                <a:spcPct val="2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Skills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Technical skills required for the role</a:t>
            </a:r>
          </a:p>
          <a:p>
            <a:pPr marL="0" marR="0" lvl="0" indent="0" algn="just" defTabSz="914400" rtl="0" eaLnBrk="0" fontAlgn="base" latinLnBrk="0" hangingPunct="0">
              <a:lnSpc>
                <a:spcPct val="2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Experience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Experience requirement mentioned</a:t>
            </a:r>
          </a:p>
          <a:p>
            <a:pPr marL="0" marR="0" lvl="0" indent="0" algn="just" defTabSz="914400" rtl="0" eaLnBrk="0" fontAlgn="base" latinLnBrk="0" hangingPunct="0">
              <a:lnSpc>
                <a:spcPct val="2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Salary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Compensation details (if disclosed)</a:t>
            </a:r>
          </a:p>
          <a:p>
            <a:pPr marL="0" marR="0" lvl="0" indent="0" algn="just" defTabSz="914400" rtl="0" eaLnBrk="0" fontAlgn="base" latinLnBrk="0" hangingPunct="0">
              <a:lnSpc>
                <a:spcPct val="2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Job Site Name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Source job portal (Naukri, Indeed, LinkedIn)</a:t>
            </a:r>
          </a:p>
          <a:p>
            <a:pPr marL="0" marR="0" lvl="0" indent="0" algn="just" defTabSz="914400" rtl="0" eaLnBrk="0" fontAlgn="base" latinLnBrk="0" hangingPunct="0">
              <a:lnSpc>
                <a:spcPct val="2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Job Posted Date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Date when the job was posted</a:t>
            </a:r>
          </a:p>
        </p:txBody>
      </p:sp>
    </p:spTree>
    <p:extLst>
      <p:ext uri="{BB962C8B-B14F-4D97-AF65-F5344CB8AC3E}">
        <p14:creationId xmlns:p14="http://schemas.microsoft.com/office/powerpoint/2010/main" val="27840544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77F570-9BC2-1DB1-6946-FF76117975F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62564E7-5B01-729F-3A9B-E3ECF2255EDF}"/>
              </a:ext>
            </a:extLst>
          </p:cNvPr>
          <p:cNvSpPr txBox="1">
            <a:spLocks/>
          </p:cNvSpPr>
          <p:nvPr/>
        </p:nvSpPr>
        <p:spPr>
          <a:xfrm>
            <a:off x="604724" y="23281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Univariate Analysis</a:t>
            </a:r>
          </a:p>
          <a:p>
            <a:endParaRPr lang="en-US" sz="4000" b="1" dirty="0">
              <a:solidFill>
                <a:srgbClr val="FF0000"/>
              </a:solidFill>
              <a:latin typeface="Times New Roman" panose="02020603050405020304" pitchFamily="18" charset="0"/>
              <a:cs typeface="Times New Roman" panose="02020603050405020304" pitchFamily="18" charset="0"/>
            </a:endParaRPr>
          </a:p>
        </p:txBody>
      </p:sp>
      <p:pic>
        <p:nvPicPr>
          <p:cNvPr id="2" name="Picture 1" descr="A close up of a logo&#10;&#10;AI-generated content may be incorrect.">
            <a:extLst>
              <a:ext uri="{FF2B5EF4-FFF2-40B4-BE49-F238E27FC236}">
                <a16:creationId xmlns:a16="http://schemas.microsoft.com/office/drawing/2014/main" id="{84E3205B-F4EE-0631-73B8-64E13844820B}"/>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611138" y="6260926"/>
            <a:ext cx="2580861" cy="584662"/>
          </a:xfrm>
          <a:prstGeom prst="rect">
            <a:avLst/>
          </a:prstGeom>
        </p:spPr>
      </p:pic>
      <p:pic>
        <p:nvPicPr>
          <p:cNvPr id="7" name="Picture 6">
            <a:extLst>
              <a:ext uri="{FF2B5EF4-FFF2-40B4-BE49-F238E27FC236}">
                <a16:creationId xmlns:a16="http://schemas.microsoft.com/office/drawing/2014/main" id="{52EE96D7-CFE4-2A1F-6A87-758EF8E04766}"/>
              </a:ext>
            </a:extLst>
          </p:cNvPr>
          <p:cNvPicPr>
            <a:picLocks noChangeAspect="1"/>
          </p:cNvPicPr>
          <p:nvPr/>
        </p:nvPicPr>
        <p:blipFill>
          <a:blip r:embed="rId4"/>
          <a:srcRect l="5839" r="6680"/>
          <a:stretch>
            <a:fillRect/>
          </a:stretch>
        </p:blipFill>
        <p:spPr>
          <a:xfrm>
            <a:off x="934280" y="1642242"/>
            <a:ext cx="5175976" cy="3158358"/>
          </a:xfrm>
          <a:prstGeom prst="rect">
            <a:avLst/>
          </a:prstGeom>
        </p:spPr>
      </p:pic>
      <p:grpSp>
        <p:nvGrpSpPr>
          <p:cNvPr id="23" name="Group 22">
            <a:extLst>
              <a:ext uri="{FF2B5EF4-FFF2-40B4-BE49-F238E27FC236}">
                <a16:creationId xmlns:a16="http://schemas.microsoft.com/office/drawing/2014/main" id="{A8E0D624-B025-95D7-25DB-A84BA3368EA4}"/>
              </a:ext>
            </a:extLst>
          </p:cNvPr>
          <p:cNvGrpSpPr/>
          <p:nvPr/>
        </p:nvGrpSpPr>
        <p:grpSpPr>
          <a:xfrm>
            <a:off x="604724" y="881160"/>
            <a:ext cx="10711896" cy="509696"/>
            <a:chOff x="1518201" y="1277786"/>
            <a:chExt cx="10711896" cy="587794"/>
          </a:xfrm>
        </p:grpSpPr>
        <p:sp>
          <p:nvSpPr>
            <p:cNvPr id="4" name="TextBox 3">
              <a:extLst>
                <a:ext uri="{FF2B5EF4-FFF2-40B4-BE49-F238E27FC236}">
                  <a16:creationId xmlns:a16="http://schemas.microsoft.com/office/drawing/2014/main" id="{F5C568F7-A9AA-B896-2421-CCBA2CC5E81E}"/>
                </a:ext>
              </a:extLst>
            </p:cNvPr>
            <p:cNvSpPr txBox="1"/>
            <p:nvPr/>
          </p:nvSpPr>
          <p:spPr>
            <a:xfrm>
              <a:off x="1518201" y="1333176"/>
              <a:ext cx="4403033" cy="532404"/>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Job Role Distribution</a:t>
              </a:r>
            </a:p>
          </p:txBody>
        </p:sp>
        <p:sp>
          <p:nvSpPr>
            <p:cNvPr id="9" name="TextBox 8">
              <a:extLst>
                <a:ext uri="{FF2B5EF4-FFF2-40B4-BE49-F238E27FC236}">
                  <a16:creationId xmlns:a16="http://schemas.microsoft.com/office/drawing/2014/main" id="{BCC7AF1C-FE48-8488-4F01-10802497C3A8}"/>
                </a:ext>
              </a:extLst>
            </p:cNvPr>
            <p:cNvSpPr txBox="1"/>
            <p:nvPr/>
          </p:nvSpPr>
          <p:spPr>
            <a:xfrm>
              <a:off x="7827064" y="1277786"/>
              <a:ext cx="4403033" cy="532403"/>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Job Postings by Job Portal</a:t>
              </a:r>
            </a:p>
          </p:txBody>
        </p:sp>
      </p:grpSp>
      <p:pic>
        <p:nvPicPr>
          <p:cNvPr id="18" name="Picture 17">
            <a:extLst>
              <a:ext uri="{FF2B5EF4-FFF2-40B4-BE49-F238E27FC236}">
                <a16:creationId xmlns:a16="http://schemas.microsoft.com/office/drawing/2014/main" id="{D3ABB406-CFCB-0B2F-2478-161F7D945A50}"/>
              </a:ext>
            </a:extLst>
          </p:cNvPr>
          <p:cNvPicPr>
            <a:picLocks noChangeAspect="1"/>
          </p:cNvPicPr>
          <p:nvPr/>
        </p:nvPicPr>
        <p:blipFill>
          <a:blip r:embed="rId5"/>
          <a:srcRect l="8289" t="8072" r="6652" b="5546"/>
          <a:stretch>
            <a:fillRect/>
          </a:stretch>
        </p:blipFill>
        <p:spPr>
          <a:xfrm>
            <a:off x="6640123" y="1394399"/>
            <a:ext cx="4676497" cy="3365808"/>
          </a:xfrm>
          <a:prstGeom prst="rect">
            <a:avLst/>
          </a:prstGeom>
        </p:spPr>
      </p:pic>
      <p:sp>
        <p:nvSpPr>
          <p:cNvPr id="8" name="TextBox 7">
            <a:extLst>
              <a:ext uri="{FF2B5EF4-FFF2-40B4-BE49-F238E27FC236}">
                <a16:creationId xmlns:a16="http://schemas.microsoft.com/office/drawing/2014/main" id="{8EC0AB4D-F11F-522B-070D-40684CF6DB84}"/>
              </a:ext>
            </a:extLst>
          </p:cNvPr>
          <p:cNvSpPr txBox="1"/>
          <p:nvPr/>
        </p:nvSpPr>
        <p:spPr>
          <a:xfrm>
            <a:off x="146189" y="4998195"/>
            <a:ext cx="5664384" cy="786754"/>
          </a:xfrm>
          <a:prstGeom prst="rect">
            <a:avLst/>
          </a:prstGeom>
          <a:noFill/>
        </p:spPr>
        <p:txBody>
          <a:bodyPr wrap="square">
            <a:spAutoFit/>
          </a:bodyPr>
          <a:lstStyle/>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 Scientist and Data Analyst roles dominate the market, while ML Engineer roles are fewer.</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B224246-0712-EF0A-39E3-D60F47BD53A8}"/>
              </a:ext>
            </a:extLst>
          </p:cNvPr>
          <p:cNvSpPr txBox="1"/>
          <p:nvPr/>
        </p:nvSpPr>
        <p:spPr>
          <a:xfrm>
            <a:off x="6381428" y="4998195"/>
            <a:ext cx="5467350" cy="786754"/>
          </a:xfrm>
          <a:prstGeom prst="rect">
            <a:avLst/>
          </a:prstGeom>
          <a:noFill/>
        </p:spPr>
        <p:txBody>
          <a:bodyPr wrap="square">
            <a:spAutoFit/>
          </a:bodyPr>
          <a:lstStyle/>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Indeed contributes the largest share of job postings, followed by Naukri, while LinkedIn has comparatively fewer listings.</a:t>
            </a:r>
            <a:endParaRPr lang="en-US"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25539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3BA33D-445E-3013-97DD-EF65CE5ED63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52B74D70-D5BA-622F-3B3C-DA574DDBC56B}"/>
              </a:ext>
            </a:extLst>
          </p:cNvPr>
          <p:cNvSpPr txBox="1">
            <a:spLocks/>
          </p:cNvSpPr>
          <p:nvPr/>
        </p:nvSpPr>
        <p:spPr>
          <a:xfrm>
            <a:off x="604724" y="23281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Univariate Analysis</a:t>
            </a:r>
          </a:p>
          <a:p>
            <a:endParaRPr lang="en-US" sz="4000" b="1" dirty="0">
              <a:solidFill>
                <a:srgbClr val="FF0000"/>
              </a:solidFill>
              <a:latin typeface="Times New Roman" panose="02020603050405020304" pitchFamily="18" charset="0"/>
              <a:cs typeface="Times New Roman" panose="02020603050405020304" pitchFamily="18" charset="0"/>
            </a:endParaRPr>
          </a:p>
        </p:txBody>
      </p:sp>
      <p:pic>
        <p:nvPicPr>
          <p:cNvPr id="2" name="Picture 1" descr="A close up of a logo&#10;&#10;AI-generated content may be incorrect.">
            <a:extLst>
              <a:ext uri="{FF2B5EF4-FFF2-40B4-BE49-F238E27FC236}">
                <a16:creationId xmlns:a16="http://schemas.microsoft.com/office/drawing/2014/main" id="{17103A4E-528B-92CA-2590-704A098692C8}"/>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611138" y="6260926"/>
            <a:ext cx="2580861" cy="584662"/>
          </a:xfrm>
          <a:prstGeom prst="rect">
            <a:avLst/>
          </a:prstGeom>
        </p:spPr>
      </p:pic>
      <p:grpSp>
        <p:nvGrpSpPr>
          <p:cNvPr id="23" name="Group 22">
            <a:extLst>
              <a:ext uri="{FF2B5EF4-FFF2-40B4-BE49-F238E27FC236}">
                <a16:creationId xmlns:a16="http://schemas.microsoft.com/office/drawing/2014/main" id="{5643B2B8-B398-9F53-091B-58166CE36379}"/>
              </a:ext>
            </a:extLst>
          </p:cNvPr>
          <p:cNvGrpSpPr/>
          <p:nvPr/>
        </p:nvGrpSpPr>
        <p:grpSpPr>
          <a:xfrm>
            <a:off x="766236" y="893379"/>
            <a:ext cx="11046418" cy="420119"/>
            <a:chOff x="805070" y="1280951"/>
            <a:chExt cx="11046418" cy="442484"/>
          </a:xfrm>
        </p:grpSpPr>
        <p:sp>
          <p:nvSpPr>
            <p:cNvPr id="4" name="TextBox 3">
              <a:extLst>
                <a:ext uri="{FF2B5EF4-FFF2-40B4-BE49-F238E27FC236}">
                  <a16:creationId xmlns:a16="http://schemas.microsoft.com/office/drawing/2014/main" id="{C5006795-63A7-E1C3-1911-809568708693}"/>
                </a:ext>
              </a:extLst>
            </p:cNvPr>
            <p:cNvSpPr txBox="1"/>
            <p:nvPr/>
          </p:nvSpPr>
          <p:spPr>
            <a:xfrm>
              <a:off x="805070" y="1302026"/>
              <a:ext cx="4403033" cy="421409"/>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Top Locations</a:t>
              </a:r>
            </a:p>
          </p:txBody>
        </p:sp>
        <p:sp>
          <p:nvSpPr>
            <p:cNvPr id="9" name="TextBox 8">
              <a:extLst>
                <a:ext uri="{FF2B5EF4-FFF2-40B4-BE49-F238E27FC236}">
                  <a16:creationId xmlns:a16="http://schemas.microsoft.com/office/drawing/2014/main" id="{BE18EE59-A365-B80F-B52E-32F64E18EDCD}"/>
                </a:ext>
              </a:extLst>
            </p:cNvPr>
            <p:cNvSpPr txBox="1"/>
            <p:nvPr/>
          </p:nvSpPr>
          <p:spPr>
            <a:xfrm>
              <a:off x="7448455" y="1280951"/>
              <a:ext cx="4403033" cy="4214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Experience Distribution</a:t>
              </a:r>
            </a:p>
          </p:txBody>
        </p:sp>
      </p:grpSp>
      <p:pic>
        <p:nvPicPr>
          <p:cNvPr id="6" name="Picture 5">
            <a:extLst>
              <a:ext uri="{FF2B5EF4-FFF2-40B4-BE49-F238E27FC236}">
                <a16:creationId xmlns:a16="http://schemas.microsoft.com/office/drawing/2014/main" id="{98A1B83F-DB4D-B571-203F-131A7B6BE6F3}"/>
              </a:ext>
            </a:extLst>
          </p:cNvPr>
          <p:cNvPicPr>
            <a:picLocks noChangeAspect="1"/>
          </p:cNvPicPr>
          <p:nvPr/>
        </p:nvPicPr>
        <p:blipFill>
          <a:blip r:embed="rId4"/>
          <a:srcRect l="4000" r="3701"/>
          <a:stretch>
            <a:fillRect/>
          </a:stretch>
        </p:blipFill>
        <p:spPr>
          <a:xfrm>
            <a:off x="685479" y="1458751"/>
            <a:ext cx="5238243" cy="3883465"/>
          </a:xfrm>
          <a:prstGeom prst="rect">
            <a:avLst/>
          </a:prstGeom>
        </p:spPr>
      </p:pic>
      <p:pic>
        <p:nvPicPr>
          <p:cNvPr id="10" name="Picture 9">
            <a:extLst>
              <a:ext uri="{FF2B5EF4-FFF2-40B4-BE49-F238E27FC236}">
                <a16:creationId xmlns:a16="http://schemas.microsoft.com/office/drawing/2014/main" id="{E0EFC72F-EA27-002C-BF54-2DFCC4F5E6E3}"/>
              </a:ext>
            </a:extLst>
          </p:cNvPr>
          <p:cNvPicPr>
            <a:picLocks noChangeAspect="1"/>
          </p:cNvPicPr>
          <p:nvPr/>
        </p:nvPicPr>
        <p:blipFill>
          <a:blip r:embed="rId5"/>
          <a:srcRect l="1307"/>
          <a:stretch>
            <a:fillRect/>
          </a:stretch>
        </p:blipFill>
        <p:spPr>
          <a:xfrm>
            <a:off x="6702380" y="1437676"/>
            <a:ext cx="4403034" cy="3552976"/>
          </a:xfrm>
          <a:prstGeom prst="rect">
            <a:avLst/>
          </a:prstGeom>
        </p:spPr>
      </p:pic>
      <p:sp>
        <p:nvSpPr>
          <p:cNvPr id="7" name="TextBox 6">
            <a:extLst>
              <a:ext uri="{FF2B5EF4-FFF2-40B4-BE49-F238E27FC236}">
                <a16:creationId xmlns:a16="http://schemas.microsoft.com/office/drawing/2014/main" id="{BFB73CFC-2F8E-BB5C-1018-B44391B5D2E4}"/>
              </a:ext>
            </a:extLst>
          </p:cNvPr>
          <p:cNvSpPr txBox="1"/>
          <p:nvPr/>
        </p:nvSpPr>
        <p:spPr>
          <a:xfrm>
            <a:off x="604724" y="5399249"/>
            <a:ext cx="6097656" cy="786754"/>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Bengaluru and Hyderabad lead in data science job postings, confirming their status as major tech hiring hubs.</a:t>
            </a:r>
          </a:p>
        </p:txBody>
      </p:sp>
      <p:sp>
        <p:nvSpPr>
          <p:cNvPr id="11" name="TextBox 10">
            <a:extLst>
              <a:ext uri="{FF2B5EF4-FFF2-40B4-BE49-F238E27FC236}">
                <a16:creationId xmlns:a16="http://schemas.microsoft.com/office/drawing/2014/main" id="{9598548C-086D-2F4C-1348-B5A927D57825}"/>
              </a:ext>
            </a:extLst>
          </p:cNvPr>
          <p:cNvSpPr txBox="1"/>
          <p:nvPr/>
        </p:nvSpPr>
        <p:spPr>
          <a:xfrm>
            <a:off x="7282992" y="5104840"/>
            <a:ext cx="4529662" cy="1156086"/>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Most job postings target entry-level and early-career professionals, with significantly fewer senior-level opportunities.</a:t>
            </a:r>
          </a:p>
        </p:txBody>
      </p:sp>
    </p:spTree>
    <p:extLst>
      <p:ext uri="{BB962C8B-B14F-4D97-AF65-F5344CB8AC3E}">
        <p14:creationId xmlns:p14="http://schemas.microsoft.com/office/powerpoint/2010/main" val="1025257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EB4EE6-8AF0-7691-204E-746F9E558DF4}"/>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2813632-6DC5-8F97-6DAE-EB1DD01087C7}"/>
              </a:ext>
            </a:extLst>
          </p:cNvPr>
          <p:cNvSpPr txBox="1">
            <a:spLocks/>
          </p:cNvSpPr>
          <p:nvPr/>
        </p:nvSpPr>
        <p:spPr>
          <a:xfrm>
            <a:off x="604724" y="23281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Univariate Analysis</a:t>
            </a:r>
          </a:p>
          <a:p>
            <a:endParaRPr lang="en-US" sz="4000" b="1" dirty="0">
              <a:solidFill>
                <a:srgbClr val="FF0000"/>
              </a:solidFill>
              <a:latin typeface="Times New Roman" panose="02020603050405020304" pitchFamily="18" charset="0"/>
              <a:cs typeface="Times New Roman" panose="02020603050405020304" pitchFamily="18" charset="0"/>
            </a:endParaRPr>
          </a:p>
        </p:txBody>
      </p:sp>
      <p:pic>
        <p:nvPicPr>
          <p:cNvPr id="2" name="Picture 1" descr="A close up of a logo&#10;&#10;AI-generated content may be incorrect.">
            <a:extLst>
              <a:ext uri="{FF2B5EF4-FFF2-40B4-BE49-F238E27FC236}">
                <a16:creationId xmlns:a16="http://schemas.microsoft.com/office/drawing/2014/main" id="{4E0BB12E-A29D-CD90-6FC3-95AC2FCE70D6}"/>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611138" y="6260926"/>
            <a:ext cx="2580861" cy="584662"/>
          </a:xfrm>
          <a:prstGeom prst="rect">
            <a:avLst/>
          </a:prstGeom>
        </p:spPr>
      </p:pic>
      <p:grpSp>
        <p:nvGrpSpPr>
          <p:cNvPr id="23" name="Group 22">
            <a:extLst>
              <a:ext uri="{FF2B5EF4-FFF2-40B4-BE49-F238E27FC236}">
                <a16:creationId xmlns:a16="http://schemas.microsoft.com/office/drawing/2014/main" id="{7858F53A-3AD6-D820-749F-BCA9E33A8C62}"/>
              </a:ext>
            </a:extLst>
          </p:cNvPr>
          <p:cNvGrpSpPr/>
          <p:nvPr/>
        </p:nvGrpSpPr>
        <p:grpSpPr>
          <a:xfrm>
            <a:off x="766236" y="914457"/>
            <a:ext cx="11007584" cy="400110"/>
            <a:chOff x="805070" y="1302026"/>
            <a:chExt cx="11007584" cy="440070"/>
          </a:xfrm>
        </p:grpSpPr>
        <p:sp>
          <p:nvSpPr>
            <p:cNvPr id="4" name="TextBox 3">
              <a:extLst>
                <a:ext uri="{FF2B5EF4-FFF2-40B4-BE49-F238E27FC236}">
                  <a16:creationId xmlns:a16="http://schemas.microsoft.com/office/drawing/2014/main" id="{09DC4C99-28BF-4B93-D5F2-249C99B6038D}"/>
                </a:ext>
              </a:extLst>
            </p:cNvPr>
            <p:cNvSpPr txBox="1"/>
            <p:nvPr/>
          </p:nvSpPr>
          <p:spPr>
            <a:xfrm>
              <a:off x="805070" y="1302026"/>
              <a:ext cx="4640651" cy="44007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Salary Disclosure Distribution</a:t>
              </a:r>
            </a:p>
          </p:txBody>
        </p:sp>
        <p:sp>
          <p:nvSpPr>
            <p:cNvPr id="9" name="TextBox 8">
              <a:extLst>
                <a:ext uri="{FF2B5EF4-FFF2-40B4-BE49-F238E27FC236}">
                  <a16:creationId xmlns:a16="http://schemas.microsoft.com/office/drawing/2014/main" id="{A266A14E-A031-4A15-5378-256505BCA305}"/>
                </a:ext>
              </a:extLst>
            </p:cNvPr>
            <p:cNvSpPr txBox="1"/>
            <p:nvPr/>
          </p:nvSpPr>
          <p:spPr>
            <a:xfrm>
              <a:off x="7409621" y="1302026"/>
              <a:ext cx="4403033" cy="44007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Top Skills</a:t>
              </a:r>
            </a:p>
          </p:txBody>
        </p:sp>
      </p:grpSp>
      <p:pic>
        <p:nvPicPr>
          <p:cNvPr id="7" name="Picture 6">
            <a:extLst>
              <a:ext uri="{FF2B5EF4-FFF2-40B4-BE49-F238E27FC236}">
                <a16:creationId xmlns:a16="http://schemas.microsoft.com/office/drawing/2014/main" id="{95E6A03F-2F91-6AB5-0175-57DF719AAC28}"/>
              </a:ext>
            </a:extLst>
          </p:cNvPr>
          <p:cNvPicPr>
            <a:picLocks noChangeAspect="1"/>
          </p:cNvPicPr>
          <p:nvPr/>
        </p:nvPicPr>
        <p:blipFill>
          <a:blip r:embed="rId4"/>
          <a:stretch>
            <a:fillRect/>
          </a:stretch>
        </p:blipFill>
        <p:spPr>
          <a:xfrm>
            <a:off x="684236" y="1431916"/>
            <a:ext cx="3589589" cy="3258525"/>
          </a:xfrm>
          <a:prstGeom prst="rect">
            <a:avLst/>
          </a:prstGeom>
        </p:spPr>
      </p:pic>
      <p:pic>
        <p:nvPicPr>
          <p:cNvPr id="11" name="Picture 10">
            <a:extLst>
              <a:ext uri="{FF2B5EF4-FFF2-40B4-BE49-F238E27FC236}">
                <a16:creationId xmlns:a16="http://schemas.microsoft.com/office/drawing/2014/main" id="{C97B392D-9092-F219-F072-384CF1C0A4A5}"/>
              </a:ext>
            </a:extLst>
          </p:cNvPr>
          <p:cNvPicPr>
            <a:picLocks noChangeAspect="1"/>
          </p:cNvPicPr>
          <p:nvPr/>
        </p:nvPicPr>
        <p:blipFill>
          <a:blip r:embed="rId5"/>
          <a:stretch>
            <a:fillRect/>
          </a:stretch>
        </p:blipFill>
        <p:spPr>
          <a:xfrm>
            <a:off x="5797373" y="1431916"/>
            <a:ext cx="5976447" cy="3792513"/>
          </a:xfrm>
          <a:prstGeom prst="rect">
            <a:avLst/>
          </a:prstGeom>
        </p:spPr>
      </p:pic>
      <p:sp>
        <p:nvSpPr>
          <p:cNvPr id="6" name="TextBox 5">
            <a:extLst>
              <a:ext uri="{FF2B5EF4-FFF2-40B4-BE49-F238E27FC236}">
                <a16:creationId xmlns:a16="http://schemas.microsoft.com/office/drawing/2014/main" id="{F9DCD61F-395F-80F6-36AE-BDC7EF933786}"/>
              </a:ext>
            </a:extLst>
          </p:cNvPr>
          <p:cNvSpPr txBox="1"/>
          <p:nvPr/>
        </p:nvSpPr>
        <p:spPr>
          <a:xfrm>
            <a:off x="604724" y="5102918"/>
            <a:ext cx="4802163" cy="1156086"/>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A large majority of job postings do not disclose salary information, indicating low transparency in compensation.</a:t>
            </a:r>
          </a:p>
        </p:txBody>
      </p:sp>
      <p:sp>
        <p:nvSpPr>
          <p:cNvPr id="10" name="TextBox 9">
            <a:extLst>
              <a:ext uri="{FF2B5EF4-FFF2-40B4-BE49-F238E27FC236}">
                <a16:creationId xmlns:a16="http://schemas.microsoft.com/office/drawing/2014/main" id="{B54526CF-E3CB-CF92-9E60-6A18B5F83122}"/>
              </a:ext>
            </a:extLst>
          </p:cNvPr>
          <p:cNvSpPr txBox="1"/>
          <p:nvPr/>
        </p:nvSpPr>
        <p:spPr>
          <a:xfrm>
            <a:off x="6284843" y="5173775"/>
            <a:ext cx="5302433" cy="786754"/>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Python, Machine Learning, and Data Analytics are the most frequently demanded skills across data science roles.</a:t>
            </a:r>
          </a:p>
        </p:txBody>
      </p:sp>
    </p:spTree>
    <p:extLst>
      <p:ext uri="{BB962C8B-B14F-4D97-AF65-F5344CB8AC3E}">
        <p14:creationId xmlns:p14="http://schemas.microsoft.com/office/powerpoint/2010/main" val="3318383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3C24C1-9D5D-8302-E8D9-61AE918809B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84D0A8FA-9604-6AB7-C7CA-AE454D96A591}"/>
              </a:ext>
            </a:extLst>
          </p:cNvPr>
          <p:cNvSpPr txBox="1">
            <a:spLocks/>
          </p:cNvSpPr>
          <p:nvPr/>
        </p:nvSpPr>
        <p:spPr>
          <a:xfrm>
            <a:off x="604724" y="23281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Bivariate Analysis</a:t>
            </a:r>
          </a:p>
          <a:p>
            <a:endParaRPr lang="en-US" sz="4000" b="1" dirty="0">
              <a:solidFill>
                <a:srgbClr val="FF0000"/>
              </a:solidFill>
              <a:latin typeface="Times New Roman" panose="02020603050405020304" pitchFamily="18" charset="0"/>
              <a:cs typeface="Times New Roman" panose="02020603050405020304" pitchFamily="18" charset="0"/>
            </a:endParaRPr>
          </a:p>
        </p:txBody>
      </p:sp>
      <p:pic>
        <p:nvPicPr>
          <p:cNvPr id="2" name="Picture 1" descr="A close up of a logo&#10;&#10;AI-generated content may be incorrect.">
            <a:extLst>
              <a:ext uri="{FF2B5EF4-FFF2-40B4-BE49-F238E27FC236}">
                <a16:creationId xmlns:a16="http://schemas.microsoft.com/office/drawing/2014/main" id="{97494D3D-FAF5-E8D8-A723-558C57F569C8}"/>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611138" y="6260926"/>
            <a:ext cx="2580861" cy="584662"/>
          </a:xfrm>
          <a:prstGeom prst="rect">
            <a:avLst/>
          </a:prstGeom>
        </p:spPr>
      </p:pic>
      <p:sp>
        <p:nvSpPr>
          <p:cNvPr id="9" name="TextBox 8">
            <a:extLst>
              <a:ext uri="{FF2B5EF4-FFF2-40B4-BE49-F238E27FC236}">
                <a16:creationId xmlns:a16="http://schemas.microsoft.com/office/drawing/2014/main" id="{97C639E2-00C1-4ADB-1C51-8338D618BECF}"/>
              </a:ext>
            </a:extLst>
          </p:cNvPr>
          <p:cNvSpPr txBox="1"/>
          <p:nvPr/>
        </p:nvSpPr>
        <p:spPr>
          <a:xfrm>
            <a:off x="604724" y="1023787"/>
            <a:ext cx="7932989"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Which roles are hiring at which experience levels?</a:t>
            </a:r>
          </a:p>
        </p:txBody>
      </p:sp>
      <p:pic>
        <p:nvPicPr>
          <p:cNvPr id="6" name="Picture 5">
            <a:extLst>
              <a:ext uri="{FF2B5EF4-FFF2-40B4-BE49-F238E27FC236}">
                <a16:creationId xmlns:a16="http://schemas.microsoft.com/office/drawing/2014/main" id="{FB73B215-77FA-070B-CF5D-0029D2DF54C4}"/>
              </a:ext>
            </a:extLst>
          </p:cNvPr>
          <p:cNvPicPr>
            <a:picLocks noChangeAspect="1"/>
          </p:cNvPicPr>
          <p:nvPr/>
        </p:nvPicPr>
        <p:blipFill>
          <a:blip r:embed="rId4"/>
          <a:stretch>
            <a:fillRect/>
          </a:stretch>
        </p:blipFill>
        <p:spPr>
          <a:xfrm>
            <a:off x="604724" y="1775607"/>
            <a:ext cx="7020905" cy="4172532"/>
          </a:xfrm>
          <a:prstGeom prst="rect">
            <a:avLst/>
          </a:prstGeom>
        </p:spPr>
      </p:pic>
      <p:sp>
        <p:nvSpPr>
          <p:cNvPr id="10" name="TextBox 9">
            <a:extLst>
              <a:ext uri="{FF2B5EF4-FFF2-40B4-BE49-F238E27FC236}">
                <a16:creationId xmlns:a16="http://schemas.microsoft.com/office/drawing/2014/main" id="{6B5D00DD-D1AF-6573-AA68-8B1CFA746A51}"/>
              </a:ext>
            </a:extLst>
          </p:cNvPr>
          <p:cNvSpPr txBox="1"/>
          <p:nvPr/>
        </p:nvSpPr>
        <p:spPr>
          <a:xfrm>
            <a:off x="7705142" y="1907786"/>
            <a:ext cx="4132362" cy="2971967"/>
          </a:xfrm>
          <a:prstGeom prst="rect">
            <a:avLst/>
          </a:prstGeom>
          <a:noFill/>
        </p:spPr>
        <p:txBody>
          <a:bodyPr wrap="square">
            <a:spAutoFit/>
          </a:bodyPr>
          <a:lstStyle/>
          <a:p>
            <a:pPr algn="just">
              <a:lnSpc>
                <a:spcPct val="200000"/>
              </a:lnSpc>
            </a:pPr>
            <a:r>
              <a:rPr lang="en-US" sz="1600" dirty="0">
                <a:latin typeface="Times New Roman" panose="02020603050405020304" pitchFamily="18" charset="0"/>
                <a:cs typeface="Times New Roman" panose="02020603050405020304" pitchFamily="18" charset="0"/>
              </a:rPr>
              <a:t>Data Scientist and Data Analyst roles are heavily concentrated at entry and early-career levels, while ML Engineer roles show relatively higher demand at mid and senior experience levels, indicating greater specialization requirements.</a:t>
            </a:r>
          </a:p>
        </p:txBody>
      </p:sp>
    </p:spTree>
    <p:extLst>
      <p:ext uri="{BB962C8B-B14F-4D97-AF65-F5344CB8AC3E}">
        <p14:creationId xmlns:p14="http://schemas.microsoft.com/office/powerpoint/2010/main" val="23539028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958586-72CE-5BD6-B584-AAE35FFAE1A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03B63B1-BF1F-5AEA-2A6F-E2FDEA8DA322}"/>
              </a:ext>
            </a:extLst>
          </p:cNvPr>
          <p:cNvSpPr txBox="1">
            <a:spLocks/>
          </p:cNvSpPr>
          <p:nvPr/>
        </p:nvSpPr>
        <p:spPr>
          <a:xfrm>
            <a:off x="604724" y="23281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Bivariate Analysis</a:t>
            </a:r>
          </a:p>
          <a:p>
            <a:endParaRPr lang="en-US" sz="4000" b="1" dirty="0">
              <a:solidFill>
                <a:srgbClr val="FF0000"/>
              </a:solidFill>
              <a:latin typeface="Times New Roman" panose="02020603050405020304" pitchFamily="18" charset="0"/>
              <a:cs typeface="Times New Roman" panose="02020603050405020304" pitchFamily="18" charset="0"/>
            </a:endParaRPr>
          </a:p>
        </p:txBody>
      </p:sp>
      <p:pic>
        <p:nvPicPr>
          <p:cNvPr id="2" name="Picture 1" descr="A close up of a logo&#10;&#10;AI-generated content may be incorrect.">
            <a:extLst>
              <a:ext uri="{FF2B5EF4-FFF2-40B4-BE49-F238E27FC236}">
                <a16:creationId xmlns:a16="http://schemas.microsoft.com/office/drawing/2014/main" id="{2278BF9A-9B0C-AE41-996B-9D9CB1575251}"/>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611138" y="6260926"/>
            <a:ext cx="2580861" cy="584662"/>
          </a:xfrm>
          <a:prstGeom prst="rect">
            <a:avLst/>
          </a:prstGeom>
        </p:spPr>
      </p:pic>
      <p:sp>
        <p:nvSpPr>
          <p:cNvPr id="9" name="TextBox 8">
            <a:extLst>
              <a:ext uri="{FF2B5EF4-FFF2-40B4-BE49-F238E27FC236}">
                <a16:creationId xmlns:a16="http://schemas.microsoft.com/office/drawing/2014/main" id="{FE744943-07A4-A4BC-FA9B-DCE9820CB5A0}"/>
              </a:ext>
            </a:extLst>
          </p:cNvPr>
          <p:cNvSpPr txBox="1"/>
          <p:nvPr/>
        </p:nvSpPr>
        <p:spPr>
          <a:xfrm>
            <a:off x="604724" y="1023787"/>
            <a:ext cx="1168998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How are different job roles distributed across major hiring locations in India?</a:t>
            </a:r>
          </a:p>
        </p:txBody>
      </p:sp>
      <p:sp>
        <p:nvSpPr>
          <p:cNvPr id="10" name="TextBox 9">
            <a:extLst>
              <a:ext uri="{FF2B5EF4-FFF2-40B4-BE49-F238E27FC236}">
                <a16:creationId xmlns:a16="http://schemas.microsoft.com/office/drawing/2014/main" id="{08FA6FEE-5D7D-EC7E-7185-44CFE65C670B}"/>
              </a:ext>
            </a:extLst>
          </p:cNvPr>
          <p:cNvSpPr txBox="1"/>
          <p:nvPr/>
        </p:nvSpPr>
        <p:spPr>
          <a:xfrm>
            <a:off x="7454630" y="2315290"/>
            <a:ext cx="4313016" cy="2479525"/>
          </a:xfrm>
          <a:prstGeom prst="rect">
            <a:avLst/>
          </a:prstGeom>
          <a:noFill/>
        </p:spPr>
        <p:txBody>
          <a:bodyPr wrap="square">
            <a:spAutoFit/>
          </a:bodyPr>
          <a:lstStyle/>
          <a:p>
            <a:pPr algn="just">
              <a:lnSpc>
                <a:spcPct val="200000"/>
              </a:lnSpc>
            </a:pPr>
            <a:r>
              <a:rPr lang="en-US" sz="1600" dirty="0">
                <a:latin typeface="Times New Roman" panose="02020603050405020304" pitchFamily="18" charset="0"/>
                <a:cs typeface="Times New Roman" panose="02020603050405020304" pitchFamily="18" charset="0"/>
              </a:rPr>
              <a:t>Data Scientist roles are heavily concentrated in Bengaluru and Hyderabad, confirming their dominance as data hubs, while ML Engineer roles show tighter geographic clustering, indicating specialized hiring ecosystems.</a:t>
            </a:r>
          </a:p>
        </p:txBody>
      </p:sp>
      <p:pic>
        <p:nvPicPr>
          <p:cNvPr id="6" name="Picture 5">
            <a:extLst>
              <a:ext uri="{FF2B5EF4-FFF2-40B4-BE49-F238E27FC236}">
                <a16:creationId xmlns:a16="http://schemas.microsoft.com/office/drawing/2014/main" id="{6271E17E-0C89-9431-BCE2-DCEDE1AB0860}"/>
              </a:ext>
            </a:extLst>
          </p:cNvPr>
          <p:cNvPicPr>
            <a:picLocks noChangeAspect="1"/>
          </p:cNvPicPr>
          <p:nvPr/>
        </p:nvPicPr>
        <p:blipFill>
          <a:blip r:embed="rId4"/>
          <a:stretch>
            <a:fillRect/>
          </a:stretch>
        </p:blipFill>
        <p:spPr>
          <a:xfrm>
            <a:off x="604724" y="1677413"/>
            <a:ext cx="6610692" cy="4583513"/>
          </a:xfrm>
          <a:prstGeom prst="rect">
            <a:avLst/>
          </a:prstGeom>
        </p:spPr>
      </p:pic>
    </p:spTree>
    <p:extLst>
      <p:ext uri="{BB962C8B-B14F-4D97-AF65-F5344CB8AC3E}">
        <p14:creationId xmlns:p14="http://schemas.microsoft.com/office/powerpoint/2010/main" val="26600188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265353-771D-9CE3-D408-9E85F679803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A6D31D7-59E2-7CCC-FF77-7D587C35A8B5}"/>
              </a:ext>
            </a:extLst>
          </p:cNvPr>
          <p:cNvSpPr txBox="1">
            <a:spLocks/>
          </p:cNvSpPr>
          <p:nvPr/>
        </p:nvSpPr>
        <p:spPr>
          <a:xfrm>
            <a:off x="604724" y="23281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Bivariate Analysis</a:t>
            </a:r>
          </a:p>
          <a:p>
            <a:endParaRPr lang="en-US" sz="4000" b="1" dirty="0">
              <a:solidFill>
                <a:srgbClr val="FF0000"/>
              </a:solidFill>
              <a:latin typeface="Times New Roman" panose="02020603050405020304" pitchFamily="18" charset="0"/>
              <a:cs typeface="Times New Roman" panose="02020603050405020304" pitchFamily="18" charset="0"/>
            </a:endParaRPr>
          </a:p>
        </p:txBody>
      </p:sp>
      <p:pic>
        <p:nvPicPr>
          <p:cNvPr id="2" name="Picture 1" descr="A close up of a logo&#10;&#10;AI-generated content may be incorrect.">
            <a:extLst>
              <a:ext uri="{FF2B5EF4-FFF2-40B4-BE49-F238E27FC236}">
                <a16:creationId xmlns:a16="http://schemas.microsoft.com/office/drawing/2014/main" id="{A4762692-2E72-5214-82F7-C506E1D22F9A}"/>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611138" y="6260926"/>
            <a:ext cx="2580861" cy="584662"/>
          </a:xfrm>
          <a:prstGeom prst="rect">
            <a:avLst/>
          </a:prstGeom>
        </p:spPr>
      </p:pic>
      <p:sp>
        <p:nvSpPr>
          <p:cNvPr id="9" name="TextBox 8">
            <a:extLst>
              <a:ext uri="{FF2B5EF4-FFF2-40B4-BE49-F238E27FC236}">
                <a16:creationId xmlns:a16="http://schemas.microsoft.com/office/drawing/2014/main" id="{B3FA6A31-16F1-867F-7288-680D2EC6FF8E}"/>
              </a:ext>
            </a:extLst>
          </p:cNvPr>
          <p:cNvSpPr txBox="1"/>
          <p:nvPr/>
        </p:nvSpPr>
        <p:spPr>
          <a:xfrm>
            <a:off x="604724" y="1023787"/>
            <a:ext cx="10636433"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How does the distribution of job roles vary across different job portals?</a:t>
            </a:r>
          </a:p>
        </p:txBody>
      </p:sp>
      <p:sp>
        <p:nvSpPr>
          <p:cNvPr id="10" name="TextBox 9">
            <a:extLst>
              <a:ext uri="{FF2B5EF4-FFF2-40B4-BE49-F238E27FC236}">
                <a16:creationId xmlns:a16="http://schemas.microsoft.com/office/drawing/2014/main" id="{944921E7-C867-B35A-6420-B9E190EDD944}"/>
              </a:ext>
            </a:extLst>
          </p:cNvPr>
          <p:cNvSpPr txBox="1"/>
          <p:nvPr/>
        </p:nvSpPr>
        <p:spPr>
          <a:xfrm>
            <a:off x="7754837" y="2116508"/>
            <a:ext cx="4132362" cy="2971967"/>
          </a:xfrm>
          <a:prstGeom prst="rect">
            <a:avLst/>
          </a:prstGeom>
          <a:noFill/>
        </p:spPr>
        <p:txBody>
          <a:bodyPr wrap="square">
            <a:spAutoFit/>
          </a:bodyPr>
          <a:lstStyle/>
          <a:p>
            <a:pPr algn="just">
              <a:lnSpc>
                <a:spcPct val="200000"/>
              </a:lnSpc>
            </a:pPr>
            <a:r>
              <a:rPr lang="en-US" sz="1600" dirty="0">
                <a:latin typeface="Times New Roman" panose="02020603050405020304" pitchFamily="18" charset="0"/>
                <a:cs typeface="Times New Roman" panose="02020603050405020304" pitchFamily="18" charset="0"/>
              </a:rPr>
              <a:t>LinkedIn is heavily skewed toward Data Scientist and ML Engineer roles, indicating demand for specialized talent, while Indeed and Naukri show a broader mix of roles, reflecting more generalized and mass-market hiring patterns.</a:t>
            </a:r>
          </a:p>
        </p:txBody>
      </p:sp>
      <p:pic>
        <p:nvPicPr>
          <p:cNvPr id="5" name="Picture 4">
            <a:extLst>
              <a:ext uri="{FF2B5EF4-FFF2-40B4-BE49-F238E27FC236}">
                <a16:creationId xmlns:a16="http://schemas.microsoft.com/office/drawing/2014/main" id="{74370B3D-8E41-545D-CC3D-77CC455FA586}"/>
              </a:ext>
            </a:extLst>
          </p:cNvPr>
          <p:cNvPicPr>
            <a:picLocks noChangeAspect="1"/>
          </p:cNvPicPr>
          <p:nvPr/>
        </p:nvPicPr>
        <p:blipFill>
          <a:blip r:embed="rId4"/>
          <a:stretch>
            <a:fillRect/>
          </a:stretch>
        </p:blipFill>
        <p:spPr>
          <a:xfrm>
            <a:off x="604724" y="1677413"/>
            <a:ext cx="6998711" cy="4321007"/>
          </a:xfrm>
          <a:prstGeom prst="rect">
            <a:avLst/>
          </a:prstGeom>
        </p:spPr>
      </p:pic>
    </p:spTree>
    <p:extLst>
      <p:ext uri="{BB962C8B-B14F-4D97-AF65-F5344CB8AC3E}">
        <p14:creationId xmlns:p14="http://schemas.microsoft.com/office/powerpoint/2010/main" val="8026293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F91E34-FAE0-437E-6EDB-B0CB5B76742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77FFAFBA-F8E0-F4CC-6F31-120904A1A504}"/>
              </a:ext>
            </a:extLst>
          </p:cNvPr>
          <p:cNvSpPr txBox="1">
            <a:spLocks/>
          </p:cNvSpPr>
          <p:nvPr/>
        </p:nvSpPr>
        <p:spPr>
          <a:xfrm>
            <a:off x="424070" y="23281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Multivariate Analysis</a:t>
            </a:r>
          </a:p>
          <a:p>
            <a:endParaRPr lang="en-US" sz="4000" b="1" dirty="0">
              <a:solidFill>
                <a:srgbClr val="FF0000"/>
              </a:solidFill>
              <a:latin typeface="Times New Roman" panose="02020603050405020304" pitchFamily="18" charset="0"/>
              <a:cs typeface="Times New Roman" panose="02020603050405020304" pitchFamily="18" charset="0"/>
            </a:endParaRPr>
          </a:p>
        </p:txBody>
      </p:sp>
      <p:pic>
        <p:nvPicPr>
          <p:cNvPr id="2" name="Picture 1" descr="A close up of a logo&#10;&#10;AI-generated content may be incorrect.">
            <a:extLst>
              <a:ext uri="{FF2B5EF4-FFF2-40B4-BE49-F238E27FC236}">
                <a16:creationId xmlns:a16="http://schemas.microsoft.com/office/drawing/2014/main" id="{F30C0265-4142-9681-9026-E7EB3E6EBDAA}"/>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611138" y="6260926"/>
            <a:ext cx="2580861" cy="584662"/>
          </a:xfrm>
          <a:prstGeom prst="rect">
            <a:avLst/>
          </a:prstGeom>
        </p:spPr>
      </p:pic>
      <p:sp>
        <p:nvSpPr>
          <p:cNvPr id="9" name="TextBox 8">
            <a:extLst>
              <a:ext uri="{FF2B5EF4-FFF2-40B4-BE49-F238E27FC236}">
                <a16:creationId xmlns:a16="http://schemas.microsoft.com/office/drawing/2014/main" id="{F692CC79-3D6D-C4D4-7B32-F0A173FFEDEA}"/>
              </a:ext>
            </a:extLst>
          </p:cNvPr>
          <p:cNvSpPr txBox="1"/>
          <p:nvPr/>
        </p:nvSpPr>
        <p:spPr>
          <a:xfrm>
            <a:off x="424070" y="1023787"/>
            <a:ext cx="1168998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How does salary disclosure vary across job roles and experience levels?</a:t>
            </a:r>
          </a:p>
        </p:txBody>
      </p:sp>
      <p:sp>
        <p:nvSpPr>
          <p:cNvPr id="10" name="TextBox 9">
            <a:extLst>
              <a:ext uri="{FF2B5EF4-FFF2-40B4-BE49-F238E27FC236}">
                <a16:creationId xmlns:a16="http://schemas.microsoft.com/office/drawing/2014/main" id="{5D0D020E-7B71-EE66-F1A5-491D887BE809}"/>
              </a:ext>
            </a:extLst>
          </p:cNvPr>
          <p:cNvSpPr txBox="1"/>
          <p:nvPr/>
        </p:nvSpPr>
        <p:spPr>
          <a:xfrm>
            <a:off x="7252594" y="2017116"/>
            <a:ext cx="4659136" cy="337207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Most job postings do not show salary information.</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Entry and early-career jobs are more likely to show salary than senior jobs.</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As experience increases, salary details are shared less often.</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ML Engineer roles hide salary information more than other roles.</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Jobs without clear experience details show mixed salary visibility.</a:t>
            </a:r>
          </a:p>
        </p:txBody>
      </p:sp>
      <p:pic>
        <p:nvPicPr>
          <p:cNvPr id="5" name="Picture 4">
            <a:extLst>
              <a:ext uri="{FF2B5EF4-FFF2-40B4-BE49-F238E27FC236}">
                <a16:creationId xmlns:a16="http://schemas.microsoft.com/office/drawing/2014/main" id="{9FC5D82F-F542-48A3-53C0-25D82EA31214}"/>
              </a:ext>
            </a:extLst>
          </p:cNvPr>
          <p:cNvPicPr>
            <a:picLocks noChangeAspect="1"/>
          </p:cNvPicPr>
          <p:nvPr/>
        </p:nvPicPr>
        <p:blipFill>
          <a:blip r:embed="rId4"/>
          <a:srcRect/>
          <a:stretch>
            <a:fillRect/>
          </a:stretch>
        </p:blipFill>
        <p:spPr>
          <a:xfrm>
            <a:off x="424070" y="1677413"/>
            <a:ext cx="6828524" cy="4800659"/>
          </a:xfrm>
          <a:prstGeom prst="rect">
            <a:avLst/>
          </a:prstGeom>
        </p:spPr>
      </p:pic>
    </p:spTree>
    <p:extLst>
      <p:ext uri="{BB962C8B-B14F-4D97-AF65-F5344CB8AC3E}">
        <p14:creationId xmlns:p14="http://schemas.microsoft.com/office/powerpoint/2010/main" val="39690377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0206E0-A6A4-7AFE-F8F6-16C6B680A9D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CD4819E9-9C81-1D0A-5C79-BE707B38CA6D}"/>
              </a:ext>
            </a:extLst>
          </p:cNvPr>
          <p:cNvSpPr txBox="1">
            <a:spLocks/>
          </p:cNvSpPr>
          <p:nvPr/>
        </p:nvSpPr>
        <p:spPr>
          <a:xfrm>
            <a:off x="424070" y="23281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Hypothesis Testing</a:t>
            </a:r>
          </a:p>
          <a:p>
            <a:endParaRPr lang="en-US" sz="4000" b="1" dirty="0">
              <a:solidFill>
                <a:srgbClr val="FF0000"/>
              </a:solidFill>
              <a:latin typeface="Times New Roman" panose="02020603050405020304" pitchFamily="18" charset="0"/>
              <a:cs typeface="Times New Roman" panose="02020603050405020304" pitchFamily="18" charset="0"/>
            </a:endParaRPr>
          </a:p>
        </p:txBody>
      </p:sp>
      <p:pic>
        <p:nvPicPr>
          <p:cNvPr id="2" name="Picture 1" descr="A close up of a logo&#10;&#10;AI-generated content may be incorrect.">
            <a:extLst>
              <a:ext uri="{FF2B5EF4-FFF2-40B4-BE49-F238E27FC236}">
                <a16:creationId xmlns:a16="http://schemas.microsoft.com/office/drawing/2014/main" id="{BB8D08CB-093A-1281-83C0-346A4CB9B5BE}"/>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611138" y="6260926"/>
            <a:ext cx="2580861" cy="584662"/>
          </a:xfrm>
          <a:prstGeom prst="rect">
            <a:avLst/>
          </a:prstGeom>
        </p:spPr>
      </p:pic>
      <p:sp>
        <p:nvSpPr>
          <p:cNvPr id="22" name="TextBox 21">
            <a:extLst>
              <a:ext uri="{FF2B5EF4-FFF2-40B4-BE49-F238E27FC236}">
                <a16:creationId xmlns:a16="http://schemas.microsoft.com/office/drawing/2014/main" id="{5D8714A5-7ED5-62D3-1238-2A91413C23D0}"/>
              </a:ext>
            </a:extLst>
          </p:cNvPr>
          <p:cNvSpPr txBox="1"/>
          <p:nvPr/>
        </p:nvSpPr>
        <p:spPr>
          <a:xfrm>
            <a:off x="424070" y="893381"/>
            <a:ext cx="8193156" cy="369332"/>
          </a:xfrm>
          <a:prstGeom prst="rect">
            <a:avLst/>
          </a:prstGeom>
          <a:noFill/>
        </p:spPr>
        <p:txBody>
          <a:bodyPr wrap="square">
            <a:spAutoFit/>
          </a:bodyPr>
          <a:lstStyle/>
          <a:p>
            <a:r>
              <a:rPr lang="en-US" b="1" dirty="0">
                <a:solidFill>
                  <a:srgbClr val="FF0000"/>
                </a:solidFill>
                <a:latin typeface="Times New Roman" panose="02020603050405020304" pitchFamily="18" charset="0"/>
                <a:cs typeface="Times New Roman" panose="02020603050405020304" pitchFamily="18" charset="0"/>
              </a:rPr>
              <a:t>Hypothesis 1: Do Different Job Roles Demand Different Skill Sets?</a:t>
            </a:r>
          </a:p>
        </p:txBody>
      </p:sp>
      <p:sp>
        <p:nvSpPr>
          <p:cNvPr id="24" name="TextBox 23">
            <a:extLst>
              <a:ext uri="{FF2B5EF4-FFF2-40B4-BE49-F238E27FC236}">
                <a16:creationId xmlns:a16="http://schemas.microsoft.com/office/drawing/2014/main" id="{C294D0C0-812E-E08C-AE13-DFBC0927751F}"/>
              </a:ext>
            </a:extLst>
          </p:cNvPr>
          <p:cNvSpPr txBox="1"/>
          <p:nvPr/>
        </p:nvSpPr>
        <p:spPr>
          <a:xfrm>
            <a:off x="424070" y="1262713"/>
            <a:ext cx="11602278" cy="4941737"/>
          </a:xfrm>
          <a:prstGeom prst="rect">
            <a:avLst/>
          </a:prstGeom>
          <a:noFill/>
        </p:spPr>
        <p:txBody>
          <a:bodyPr wrap="square">
            <a:spAutoFit/>
          </a:bodyPr>
          <a:lstStyle/>
          <a:p>
            <a:pPr algn="just">
              <a:lnSpc>
                <a:spcPct val="200000"/>
              </a:lnSpc>
              <a:buNone/>
            </a:pPr>
            <a:r>
              <a:rPr lang="en-US" sz="1600" b="1" dirty="0">
                <a:latin typeface="Times New Roman" panose="02020603050405020304" pitchFamily="18" charset="0"/>
                <a:cs typeface="Times New Roman" panose="02020603050405020304" pitchFamily="18" charset="0"/>
              </a:rPr>
              <a:t>Question: Is skill demand dependent on job role?</a:t>
            </a:r>
          </a:p>
          <a:p>
            <a:pPr>
              <a:lnSpc>
                <a:spcPct val="200000"/>
              </a:lnSpc>
            </a:pPr>
            <a:r>
              <a:rPr lang="en-US" sz="1600" b="1" dirty="0">
                <a:latin typeface="Times New Roman" panose="02020603050405020304" pitchFamily="18" charset="0"/>
                <a:cs typeface="Times New Roman" panose="02020603050405020304" pitchFamily="18" charset="0"/>
              </a:rPr>
              <a:t>Hypotheses</a:t>
            </a:r>
          </a:p>
          <a:p>
            <a:pPr marL="285750" indent="-285750">
              <a:lnSpc>
                <a:spcPct val="20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H₀ (Null Hypothesis):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Skill requirements are the same across all job roles.</a:t>
            </a:r>
          </a:p>
          <a:p>
            <a:pPr marL="285750" indent="-285750">
              <a:lnSpc>
                <a:spcPct val="20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H₁ (Alternative Hypothesis):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Skill requirements vary across job roles.</a:t>
            </a:r>
            <a:endParaRPr lang="en-US" sz="1600" b="1" dirty="0">
              <a:latin typeface="Times New Roman" panose="02020603050405020304" pitchFamily="18" charset="0"/>
              <a:cs typeface="Times New Roman" panose="02020603050405020304" pitchFamily="18" charset="0"/>
            </a:endParaRPr>
          </a:p>
          <a:p>
            <a:pPr algn="just">
              <a:lnSpc>
                <a:spcPct val="200000"/>
              </a:lnSpc>
              <a:buNone/>
            </a:pPr>
            <a:r>
              <a:rPr lang="en-US" sz="1600" b="1" dirty="0">
                <a:latin typeface="Times New Roman" panose="02020603050405020304" pitchFamily="18" charset="0"/>
                <a:cs typeface="Times New Roman" panose="02020603050405020304" pitchFamily="18" charset="0"/>
              </a:rPr>
              <a:t>Method Used: </a:t>
            </a:r>
            <a:r>
              <a:rPr lang="en-US" sz="1600" dirty="0">
                <a:latin typeface="Times New Roman" panose="02020603050405020304" pitchFamily="18" charset="0"/>
                <a:cs typeface="Times New Roman" panose="02020603050405020304" pitchFamily="18" charset="0"/>
              </a:rPr>
              <a:t>Chi-Square Test of Independence between </a:t>
            </a:r>
            <a:r>
              <a:rPr lang="en-US" sz="1600" b="1" dirty="0">
                <a:latin typeface="Times New Roman" panose="02020603050405020304" pitchFamily="18" charset="0"/>
                <a:cs typeface="Times New Roman" panose="02020603050405020304" pitchFamily="18" charset="0"/>
              </a:rPr>
              <a:t>Job Role</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Skill Requirement (e.g., Python)</a:t>
            </a:r>
            <a:r>
              <a:rPr lang="en-US" sz="1600" dirty="0">
                <a:latin typeface="Times New Roman" panose="02020603050405020304" pitchFamily="18" charset="0"/>
                <a:cs typeface="Times New Roman" panose="02020603050405020304" pitchFamily="18" charset="0"/>
              </a:rPr>
              <a:t>.</a:t>
            </a:r>
          </a:p>
          <a:p>
            <a:pPr algn="just">
              <a:lnSpc>
                <a:spcPct val="200000"/>
              </a:lnSpc>
              <a:buNone/>
            </a:pPr>
            <a:r>
              <a:rPr lang="en-US" sz="1600" b="1" dirty="0">
                <a:latin typeface="Times New Roman" panose="02020603050405020304" pitchFamily="18" charset="0"/>
                <a:cs typeface="Times New Roman" panose="02020603050405020304" pitchFamily="18" charset="0"/>
              </a:rPr>
              <a:t>Result: </a:t>
            </a:r>
            <a:r>
              <a:rPr lang="en-US" sz="1600" dirty="0">
                <a:latin typeface="Times New Roman" panose="02020603050405020304" pitchFamily="18" charset="0"/>
                <a:cs typeface="Times New Roman" panose="02020603050405020304" pitchFamily="18" charset="0"/>
              </a:rPr>
              <a:t>The relationship is statistically significant (p &lt; 0.05), indicating that the observed differences are unlikely due to random chance.</a:t>
            </a:r>
          </a:p>
          <a:p>
            <a:pPr algn="just">
              <a:lnSpc>
                <a:spcPct val="200000"/>
              </a:lnSpc>
              <a:buNone/>
            </a:pPr>
            <a:r>
              <a:rPr lang="en-US" sz="1600" b="1" dirty="0">
                <a:latin typeface="Times New Roman" panose="02020603050405020304" pitchFamily="18" charset="0"/>
                <a:cs typeface="Times New Roman" panose="02020603050405020304" pitchFamily="18" charset="0"/>
              </a:rPr>
              <a:t>Conclusion: </a:t>
            </a:r>
            <a:r>
              <a:rPr lang="en-US" sz="1600" dirty="0">
                <a:latin typeface="Times New Roman" panose="02020603050405020304" pitchFamily="18" charset="0"/>
                <a:cs typeface="Times New Roman" panose="02020603050405020304" pitchFamily="18" charset="0"/>
              </a:rPr>
              <a:t>Different job roles require different skill sets. Data Scientist and ML Engineer roles show higher dependency on advanced technical skills, while analyst roles require comparatively broader but less specialized skill combinations.</a:t>
            </a:r>
          </a:p>
        </p:txBody>
      </p:sp>
    </p:spTree>
    <p:extLst>
      <p:ext uri="{BB962C8B-B14F-4D97-AF65-F5344CB8AC3E}">
        <p14:creationId xmlns:p14="http://schemas.microsoft.com/office/powerpoint/2010/main" val="35479473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4997F6-1A00-4C0C-0AA8-A31ADEBE140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C73806A0-8FE5-D0FD-1230-D5B4DF07F728}"/>
              </a:ext>
            </a:extLst>
          </p:cNvPr>
          <p:cNvSpPr txBox="1">
            <a:spLocks/>
          </p:cNvSpPr>
          <p:nvPr/>
        </p:nvSpPr>
        <p:spPr>
          <a:xfrm>
            <a:off x="424070" y="23281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Hypothesis Testing</a:t>
            </a:r>
          </a:p>
          <a:p>
            <a:endParaRPr lang="en-US" sz="4000" b="1" dirty="0">
              <a:solidFill>
                <a:srgbClr val="FF0000"/>
              </a:solidFill>
              <a:latin typeface="Times New Roman" panose="02020603050405020304" pitchFamily="18" charset="0"/>
              <a:cs typeface="Times New Roman" panose="02020603050405020304" pitchFamily="18" charset="0"/>
            </a:endParaRPr>
          </a:p>
        </p:txBody>
      </p:sp>
      <p:pic>
        <p:nvPicPr>
          <p:cNvPr id="2" name="Picture 1" descr="A close up of a logo&#10;&#10;AI-generated content may be incorrect.">
            <a:extLst>
              <a:ext uri="{FF2B5EF4-FFF2-40B4-BE49-F238E27FC236}">
                <a16:creationId xmlns:a16="http://schemas.microsoft.com/office/drawing/2014/main" id="{D3DC798F-E483-453D-576B-C9388E359440}"/>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611138" y="6260926"/>
            <a:ext cx="2580861" cy="584662"/>
          </a:xfrm>
          <a:prstGeom prst="rect">
            <a:avLst/>
          </a:prstGeom>
        </p:spPr>
      </p:pic>
      <p:sp>
        <p:nvSpPr>
          <p:cNvPr id="26" name="TextBox 25">
            <a:extLst>
              <a:ext uri="{FF2B5EF4-FFF2-40B4-BE49-F238E27FC236}">
                <a16:creationId xmlns:a16="http://schemas.microsoft.com/office/drawing/2014/main" id="{9EC77FC9-F290-D04D-1945-38B58E456CE5}"/>
              </a:ext>
            </a:extLst>
          </p:cNvPr>
          <p:cNvSpPr txBox="1"/>
          <p:nvPr/>
        </p:nvSpPr>
        <p:spPr>
          <a:xfrm>
            <a:off x="424070" y="955547"/>
            <a:ext cx="8550965" cy="369332"/>
          </a:xfrm>
          <a:prstGeom prst="rect">
            <a:avLst/>
          </a:prstGeom>
          <a:noFill/>
        </p:spPr>
        <p:txBody>
          <a:bodyPr wrap="square">
            <a:spAutoFit/>
          </a:bodyPr>
          <a:lstStyle/>
          <a:p>
            <a:r>
              <a:rPr lang="en-US" b="1" dirty="0">
                <a:solidFill>
                  <a:srgbClr val="FF0000"/>
                </a:solidFill>
                <a:latin typeface="Times New Roman" panose="02020603050405020304" pitchFamily="18" charset="0"/>
                <a:cs typeface="Times New Roman" panose="02020603050405020304" pitchFamily="18" charset="0"/>
              </a:rPr>
              <a:t>Hypothesis 2: Does Job Role Influence Salary Disclosure?</a:t>
            </a:r>
          </a:p>
        </p:txBody>
      </p:sp>
      <p:sp>
        <p:nvSpPr>
          <p:cNvPr id="28" name="TextBox 27">
            <a:extLst>
              <a:ext uri="{FF2B5EF4-FFF2-40B4-BE49-F238E27FC236}">
                <a16:creationId xmlns:a16="http://schemas.microsoft.com/office/drawing/2014/main" id="{56E99C53-6287-C773-53CB-47762DF104A7}"/>
              </a:ext>
            </a:extLst>
          </p:cNvPr>
          <p:cNvSpPr txBox="1"/>
          <p:nvPr/>
        </p:nvSpPr>
        <p:spPr>
          <a:xfrm>
            <a:off x="424070" y="1387045"/>
            <a:ext cx="11572460" cy="5062283"/>
          </a:xfrm>
          <a:prstGeom prst="rect">
            <a:avLst/>
          </a:prstGeom>
          <a:noFill/>
        </p:spPr>
        <p:txBody>
          <a:bodyPr wrap="square">
            <a:spAutoFit/>
          </a:bodyPr>
          <a:lstStyle/>
          <a:p>
            <a:pPr algn="just">
              <a:lnSpc>
                <a:spcPct val="200000"/>
              </a:lnSpc>
              <a:buNone/>
            </a:pPr>
            <a:r>
              <a:rPr lang="en-US" sz="1600" b="1" dirty="0">
                <a:latin typeface="Times New Roman" panose="02020603050405020304" pitchFamily="18" charset="0"/>
                <a:cs typeface="Times New Roman" panose="02020603050405020304" pitchFamily="18" charset="0"/>
              </a:rPr>
              <a:t>Question: Is salary disclosure significantly different across job roles?</a:t>
            </a:r>
          </a:p>
          <a:p>
            <a:pPr>
              <a:lnSpc>
                <a:spcPct val="200000"/>
              </a:lnSpc>
            </a:pPr>
            <a:r>
              <a:rPr lang="en-US" sz="1600" b="1" dirty="0">
                <a:latin typeface="Times New Roman" panose="02020603050405020304" pitchFamily="18" charset="0"/>
                <a:cs typeface="Times New Roman" panose="02020603050405020304" pitchFamily="18" charset="0"/>
              </a:rPr>
              <a:t>Hypotheses</a:t>
            </a:r>
            <a:endParaRPr lang="en-US" sz="1600" dirty="0">
              <a:latin typeface="Times New Roman" panose="02020603050405020304" pitchFamily="18" charset="0"/>
              <a:cs typeface="Times New Roman" panose="02020603050405020304" pitchFamily="18" charset="0"/>
            </a:endParaRPr>
          </a:p>
          <a:p>
            <a:pPr marL="285750" indent="-285750">
              <a:lnSpc>
                <a:spcPct val="20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H₀ (Null Hypothesis):</a:t>
            </a:r>
            <a:endParaRPr lang="en-US" sz="1600" dirty="0">
              <a:latin typeface="Times New Roman" panose="02020603050405020304" pitchFamily="18" charset="0"/>
              <a:cs typeface="Times New Roman" panose="02020603050405020304" pitchFamily="18" charset="0"/>
            </a:endParaRPr>
          </a:p>
          <a:p>
            <a:pPr>
              <a:lnSpc>
                <a:spcPct val="200000"/>
              </a:lnSpc>
            </a:pPr>
            <a:r>
              <a:rPr lang="en-US" sz="1600" dirty="0">
                <a:latin typeface="Times New Roman" panose="02020603050405020304" pitchFamily="18" charset="0"/>
                <a:cs typeface="Times New Roman" panose="02020603050405020304" pitchFamily="18" charset="0"/>
              </a:rPr>
              <a:t>      Salary disclosure is independent of job role.</a:t>
            </a:r>
          </a:p>
          <a:p>
            <a:pPr marL="285750" indent="-285750">
              <a:lnSpc>
                <a:spcPct val="20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H₁ (Alternative Hypothesis):</a:t>
            </a:r>
            <a:endParaRPr lang="en-US" sz="1600" dirty="0">
              <a:latin typeface="Times New Roman" panose="02020603050405020304" pitchFamily="18" charset="0"/>
              <a:cs typeface="Times New Roman" panose="02020603050405020304" pitchFamily="18" charset="0"/>
            </a:endParaRPr>
          </a:p>
          <a:p>
            <a:pPr>
              <a:lnSpc>
                <a:spcPct val="200000"/>
              </a:lnSpc>
            </a:pPr>
            <a:r>
              <a:rPr lang="en-US" sz="1600" dirty="0">
                <a:latin typeface="Times New Roman" panose="02020603050405020304" pitchFamily="18" charset="0"/>
                <a:cs typeface="Times New Roman" panose="02020603050405020304" pitchFamily="18" charset="0"/>
              </a:rPr>
              <a:t>      Salary disclosure varies significantly by job role.</a:t>
            </a:r>
            <a:endParaRPr lang="en-US" sz="1600" b="1" dirty="0">
              <a:latin typeface="Times New Roman" panose="02020603050405020304" pitchFamily="18" charset="0"/>
              <a:cs typeface="Times New Roman" panose="02020603050405020304" pitchFamily="18" charset="0"/>
            </a:endParaRPr>
          </a:p>
          <a:p>
            <a:pPr algn="just">
              <a:lnSpc>
                <a:spcPct val="200000"/>
              </a:lnSpc>
              <a:buNone/>
            </a:pPr>
            <a:r>
              <a:rPr lang="en-US" sz="1600" b="1" dirty="0">
                <a:latin typeface="Times New Roman" panose="02020603050405020304" pitchFamily="18" charset="0"/>
                <a:cs typeface="Times New Roman" panose="02020603050405020304" pitchFamily="18" charset="0"/>
              </a:rPr>
              <a:t>Method Used: </a:t>
            </a:r>
            <a:r>
              <a:rPr lang="en-US" sz="1600" dirty="0">
                <a:latin typeface="Times New Roman" panose="02020603050405020304" pitchFamily="18" charset="0"/>
                <a:cs typeface="Times New Roman" panose="02020603050405020304" pitchFamily="18" charset="0"/>
              </a:rPr>
              <a:t>Chi-Square Test of Independence between </a:t>
            </a:r>
            <a:r>
              <a:rPr lang="en-US" sz="1600" b="1" dirty="0">
                <a:latin typeface="Times New Roman" panose="02020603050405020304" pitchFamily="18" charset="0"/>
                <a:cs typeface="Times New Roman" panose="02020603050405020304" pitchFamily="18" charset="0"/>
              </a:rPr>
              <a:t>Job Role</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Salary Disclosure</a:t>
            </a:r>
            <a:r>
              <a:rPr lang="en-US" sz="1600" dirty="0">
                <a:latin typeface="Times New Roman" panose="02020603050405020304" pitchFamily="18" charset="0"/>
                <a:cs typeface="Times New Roman" panose="02020603050405020304" pitchFamily="18" charset="0"/>
              </a:rPr>
              <a:t>.</a:t>
            </a:r>
          </a:p>
          <a:p>
            <a:pPr algn="just">
              <a:lnSpc>
                <a:spcPct val="200000"/>
              </a:lnSpc>
              <a:buNone/>
            </a:pPr>
            <a:r>
              <a:rPr lang="en-US" sz="1600" b="1" dirty="0">
                <a:latin typeface="Times New Roman" panose="02020603050405020304" pitchFamily="18" charset="0"/>
                <a:cs typeface="Times New Roman" panose="02020603050405020304" pitchFamily="18" charset="0"/>
              </a:rPr>
              <a:t>Result: </a:t>
            </a:r>
            <a:r>
              <a:rPr lang="en-US" sz="1600" dirty="0">
                <a:latin typeface="Times New Roman" panose="02020603050405020304" pitchFamily="18" charset="0"/>
                <a:cs typeface="Times New Roman" panose="02020603050405020304" pitchFamily="18" charset="0"/>
              </a:rPr>
              <a:t>The relationship is statistically significant (p &lt; 0.05), indicating that the observed differences are unlikely due to random chance.</a:t>
            </a:r>
          </a:p>
          <a:p>
            <a:pPr algn="just">
              <a:lnSpc>
                <a:spcPct val="200000"/>
              </a:lnSpc>
              <a:buNone/>
            </a:pPr>
            <a:r>
              <a:rPr lang="en-US" sz="1600" b="1" dirty="0">
                <a:latin typeface="Times New Roman" panose="02020603050405020304" pitchFamily="18" charset="0"/>
                <a:cs typeface="Times New Roman" panose="02020603050405020304" pitchFamily="18" charset="0"/>
              </a:rPr>
              <a:t>Conclusion: </a:t>
            </a:r>
            <a:r>
              <a:rPr lang="en-US" sz="1600" dirty="0">
                <a:latin typeface="Times New Roman" panose="02020603050405020304" pitchFamily="18" charset="0"/>
                <a:cs typeface="Times New Roman" panose="02020603050405020304" pitchFamily="18" charset="0"/>
              </a:rPr>
              <a:t>Salary disclosure varies by job role. Entry-level and analyst roles disclose salary more often, while Senior and specialized roles are less likely to disclose salary information, indicating negotiation-driven hiring for high-impact roles.</a:t>
            </a:r>
          </a:p>
        </p:txBody>
      </p:sp>
    </p:spTree>
    <p:extLst>
      <p:ext uri="{BB962C8B-B14F-4D97-AF65-F5344CB8AC3E}">
        <p14:creationId xmlns:p14="http://schemas.microsoft.com/office/powerpoint/2010/main" val="122464669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81298-C5F9-1955-B4A2-CB87FB43E46F}"/>
            </a:ext>
          </a:extLst>
        </p:cNvPr>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D74C575F-3795-5E11-C20E-4A82907936E9}"/>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276080" y="6186875"/>
            <a:ext cx="2915920" cy="660565"/>
          </a:xfrm>
          <a:prstGeom prst="rect">
            <a:avLst/>
          </a:prstGeom>
        </p:spPr>
      </p:pic>
      <p:sp>
        <p:nvSpPr>
          <p:cNvPr id="4" name="Title 1">
            <a:extLst>
              <a:ext uri="{FF2B5EF4-FFF2-40B4-BE49-F238E27FC236}">
                <a16:creationId xmlns:a16="http://schemas.microsoft.com/office/drawing/2014/main" id="{ED577842-576B-F6CC-5FF3-8E1F5257866B}"/>
              </a:ext>
            </a:extLst>
          </p:cNvPr>
          <p:cNvSpPr txBox="1">
            <a:spLocks/>
          </p:cNvSpPr>
          <p:nvPr/>
        </p:nvSpPr>
        <p:spPr>
          <a:xfrm>
            <a:off x="334000" y="340842"/>
            <a:ext cx="10701274"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Key</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Insights</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&amp;</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Recommendations</a:t>
            </a:r>
          </a:p>
        </p:txBody>
      </p:sp>
      <p:sp>
        <p:nvSpPr>
          <p:cNvPr id="6" name="TextBox 5">
            <a:extLst>
              <a:ext uri="{FF2B5EF4-FFF2-40B4-BE49-F238E27FC236}">
                <a16:creationId xmlns:a16="http://schemas.microsoft.com/office/drawing/2014/main" id="{C17492BA-A967-1E72-A197-574151F722BA}"/>
              </a:ext>
            </a:extLst>
          </p:cNvPr>
          <p:cNvSpPr txBox="1"/>
          <p:nvPr/>
        </p:nvSpPr>
        <p:spPr>
          <a:xfrm>
            <a:off x="334000" y="1054984"/>
            <a:ext cx="11722165" cy="5028556"/>
          </a:xfrm>
          <a:prstGeom prst="rect">
            <a:avLst/>
          </a:prstGeom>
          <a:noFill/>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For Job Seekers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Focus on Python, ML, SQL, and Data Analytics — these skills appear most consistently.</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Entry and early-career roles dominate the market, making them the easiest entry points.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Salary is often not disclosed, especially for senior roles — be prepared to negotiate.</a:t>
            </a:r>
          </a:p>
          <a:p>
            <a:pPr algn="just">
              <a:lnSpc>
                <a:spcPct val="150000"/>
              </a:lnSpc>
            </a:pPr>
            <a:r>
              <a:rPr lang="en-US" b="1" dirty="0">
                <a:latin typeface="Times New Roman" panose="02020603050405020304" pitchFamily="18" charset="0"/>
                <a:cs typeface="Times New Roman" panose="02020603050405020304" pitchFamily="18" charset="0"/>
              </a:rPr>
              <a:t>For Employers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Disclosing salary ranges improves candidate quality and reduces mismatches.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Clear skill requirements attract role-aligned candidates and reduce irrelevant applications.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Hiring demand varies by city — location-specific hiring works better than uniform postings.</a:t>
            </a:r>
          </a:p>
          <a:p>
            <a:pPr algn="just">
              <a:lnSpc>
                <a:spcPct val="150000"/>
              </a:lnSpc>
            </a:pPr>
            <a:r>
              <a:rPr lang="en-US" b="1" dirty="0">
                <a:latin typeface="Times New Roman" panose="02020603050405020304" pitchFamily="18" charset="0"/>
                <a:cs typeface="Times New Roman" panose="02020603050405020304" pitchFamily="18" charset="0"/>
              </a:rPr>
              <a:t>For Recruiters &amp; Job Platforms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Different platforms attract different role types — posting strategy should match the platform.</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Standardized job titles and skill tags improve search accuracy and candidate matching.</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Better salary and skill metadata increases transparency and platform credibility.</a:t>
            </a:r>
          </a:p>
        </p:txBody>
      </p:sp>
    </p:spTree>
    <p:extLst>
      <p:ext uri="{BB962C8B-B14F-4D97-AF65-F5344CB8AC3E}">
        <p14:creationId xmlns:p14="http://schemas.microsoft.com/office/powerpoint/2010/main" val="6794179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hidden="1"/>
          <p:cNvSpPr>
            <a:spLocks noGrp="1"/>
          </p:cNvSpPr>
          <p:nvPr>
            <p:ph type="title"/>
          </p:nvPr>
        </p:nvSpPr>
        <p:spPr/>
        <p:txBody>
          <a:bodyPr/>
          <a:lstStyle/>
          <a:p>
            <a:r>
              <a:rPr dirty="0"/>
              <a:t>Summary page</a:t>
            </a:r>
          </a:p>
        </p:txBody>
      </p:sp>
      <p:pic>
        <p:nvPicPr>
          <p:cNvPr id="2" name="Picture 1" descr="A close up of a logo&#10;&#10;AI-generated content may be incorrect.">
            <a:extLst>
              <a:ext uri="{FF2B5EF4-FFF2-40B4-BE49-F238E27FC236}">
                <a16:creationId xmlns:a16="http://schemas.microsoft.com/office/drawing/2014/main" id="{A62AC3A9-8D96-5C35-A8FE-2958C62FDD0D}"/>
              </a:ext>
            </a:extLst>
          </p:cNvPr>
          <p:cNvPicPr>
            <a:picLocks noChangeAspect="1"/>
          </p:cNvPicPr>
          <p:nvPr/>
        </p:nvPicPr>
        <p:blipFill>
          <a:blip r:embed="rId3">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5" name="Title 1">
            <a:extLst>
              <a:ext uri="{FF2B5EF4-FFF2-40B4-BE49-F238E27FC236}">
                <a16:creationId xmlns:a16="http://schemas.microsoft.com/office/drawing/2014/main" id="{FBC19A81-08AB-9D9C-B573-B06B6B6E7212}"/>
              </a:ext>
            </a:extLst>
          </p:cNvPr>
          <p:cNvSpPr txBox="1">
            <a:spLocks/>
          </p:cNvSpPr>
          <p:nvPr/>
        </p:nvSpPr>
        <p:spPr>
          <a:xfrm>
            <a:off x="720518" y="261363"/>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Conclusion</a:t>
            </a:r>
            <a:br>
              <a:rPr lang="en-US" sz="4000" b="1" dirty="0">
                <a:solidFill>
                  <a:srgbClr val="FF0000"/>
                </a:solidFill>
                <a:latin typeface="Times New Roman" panose="02020603050405020304" pitchFamily="18" charset="0"/>
                <a:cs typeface="Times New Roman" panose="02020603050405020304" pitchFamily="18" charset="0"/>
              </a:rPr>
            </a:br>
            <a:br>
              <a:rPr lang="en-US" sz="4000" b="1" dirty="0">
                <a:solidFill>
                  <a:srgbClr val="FF0000"/>
                </a:solidFill>
                <a:latin typeface="Times New Roman" panose="02020603050405020304" pitchFamily="18" charset="0"/>
                <a:cs typeface="Times New Roman" panose="02020603050405020304" pitchFamily="18" charset="0"/>
              </a:rPr>
            </a:br>
            <a:endParaRPr lang="en-US" sz="4000" b="1" dirty="0">
              <a:solidFill>
                <a:srgbClr val="FF0000"/>
              </a:solidFill>
              <a:latin typeface="Times New Roman" panose="02020603050405020304" pitchFamily="18" charset="0"/>
              <a:cs typeface="Times New Roman" panose="02020603050405020304" pitchFamily="18" charset="0"/>
            </a:endParaRPr>
          </a:p>
        </p:txBody>
      </p:sp>
      <p:sp>
        <p:nvSpPr>
          <p:cNvPr id="9" name="Rectangle 4">
            <a:extLst>
              <a:ext uri="{FF2B5EF4-FFF2-40B4-BE49-F238E27FC236}">
                <a16:creationId xmlns:a16="http://schemas.microsoft.com/office/drawing/2014/main" id="{54DBEF02-96BB-79B2-B3D8-232AF52482F4}"/>
              </a:ext>
            </a:extLst>
          </p:cNvPr>
          <p:cNvSpPr>
            <a:spLocks noChangeArrowheads="1"/>
          </p:cNvSpPr>
          <p:nvPr/>
        </p:nvSpPr>
        <p:spPr bwMode="auto">
          <a:xfrm>
            <a:off x="720518" y="855300"/>
            <a:ext cx="11037473" cy="4993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lnSpc>
                <a:spcPct val="20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The data science job market in India is highly skill-driven, with demand concentrated around Data Scientist, Data Analyst, and ML Engineer roles.</a:t>
            </a:r>
          </a:p>
          <a:p>
            <a:pPr marL="342900" lvl="0" indent="-342900" algn="just" eaLnBrk="0" fontAlgn="base" hangingPunct="0">
              <a:lnSpc>
                <a:spcPct val="20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Python, Machine Learning, SQL, and Data Analytics are the most consistently required skills across job postings.</a:t>
            </a:r>
          </a:p>
          <a:p>
            <a:pPr marL="342900" lvl="0" indent="-342900" algn="just" eaLnBrk="0" fontAlgn="base" hangingPunct="0">
              <a:lnSpc>
                <a:spcPct val="20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Early and mid-career roles dominate the market, while senior positions are fewer and more selective.</a:t>
            </a:r>
          </a:p>
          <a:p>
            <a:pPr marL="342900" lvl="0" indent="-342900" algn="just" eaLnBrk="0" fontAlgn="base" hangingPunct="0">
              <a:lnSpc>
                <a:spcPct val="20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Salary transparency is low, especially for senior and specialized roles, indicating negotiation-based hiring practices.</a:t>
            </a:r>
          </a:p>
          <a:p>
            <a:pPr marL="342900" lvl="0" indent="-342900" algn="just" eaLnBrk="0" fontAlgn="base" hangingPunct="0">
              <a:lnSpc>
                <a:spcPct val="20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Job opportunities are geographically concentrated, with Bengaluru and Hyderabad emerging as major data hubs.</a:t>
            </a:r>
          </a:p>
          <a:p>
            <a:pPr marL="342900" lvl="0" indent="-342900" algn="just" eaLnBrk="0" fontAlgn="base" hangingPunct="0">
              <a:lnSpc>
                <a:spcPct val="20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Different job portals show distinct hiring patterns, making multi-platform analysis essential for accurate market understanding.</a:t>
            </a:r>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49214CC8-D9AB-2F80-029E-C22264687F14}"/>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5" name="TextBox 4">
            <a:extLst>
              <a:ext uri="{FF2B5EF4-FFF2-40B4-BE49-F238E27FC236}">
                <a16:creationId xmlns:a16="http://schemas.microsoft.com/office/drawing/2014/main" id="{6FD81D77-67A2-8145-D323-469DC5D10E87}"/>
              </a:ext>
            </a:extLst>
          </p:cNvPr>
          <p:cNvSpPr txBox="1"/>
          <p:nvPr/>
        </p:nvSpPr>
        <p:spPr>
          <a:xfrm>
            <a:off x="2435498" y="390434"/>
            <a:ext cx="2854960" cy="5478423"/>
          </a:xfrm>
          <a:prstGeom prst="rect">
            <a:avLst/>
          </a:prstGeom>
          <a:noFill/>
        </p:spPr>
        <p:txBody>
          <a:bodyPr wrap="square" rtlCol="0">
            <a:spAutoFit/>
          </a:bodyPr>
          <a:lstStyle/>
          <a:p>
            <a:r>
              <a:rPr lang="en-US" sz="35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a16="http://schemas.microsoft.com/office/drawing/2014/main" id="{5B46DC4D-7E17-51EE-1629-8C5D7E1759DB}"/>
              </a:ext>
            </a:extLst>
          </p:cNvPr>
          <p:cNvSpPr txBox="1"/>
          <p:nvPr/>
        </p:nvSpPr>
        <p:spPr>
          <a:xfrm>
            <a:off x="4602480" y="2497976"/>
            <a:ext cx="6146800" cy="1862048"/>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Any</a:t>
            </a:r>
          </a:p>
          <a:p>
            <a:r>
              <a:rPr lang="en-US" sz="7500" b="1" dirty="0">
                <a:latin typeface="Times New Roman" panose="02020603050405020304" pitchFamily="18" charset="0"/>
                <a:cs typeface="Times New Roman" panose="02020603050405020304" pitchFamily="18" charset="0"/>
              </a:rPr>
              <a:t>Questions</a:t>
            </a:r>
          </a:p>
        </p:txBody>
      </p:sp>
    </p:spTree>
    <p:extLst>
      <p:ext uri="{BB962C8B-B14F-4D97-AF65-F5344CB8AC3E}">
        <p14:creationId xmlns:p14="http://schemas.microsoft.com/office/powerpoint/2010/main" val="384500524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BF134B50-271B-1AB9-0D8F-3CE0355DB95E}"/>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pic>
        <p:nvPicPr>
          <p:cNvPr id="3" name="Google Shape;116;p5">
            <a:extLst>
              <a:ext uri="{FF2B5EF4-FFF2-40B4-BE49-F238E27FC236}">
                <a16:creationId xmlns:a16="http://schemas.microsoft.com/office/drawing/2014/main" id="{0BAA08BE-6A83-D415-3081-B1F9D2D5BE15}"/>
              </a:ext>
            </a:extLst>
          </p:cNvPr>
          <p:cNvPicPr preferRelativeResize="0"/>
          <p:nvPr/>
        </p:nvPicPr>
        <p:blipFill rotWithShape="1">
          <a:blip r:embed="rId3">
            <a:alphaModFix/>
          </a:blip>
          <a:srcRect/>
          <a:stretch/>
        </p:blipFill>
        <p:spPr>
          <a:xfrm>
            <a:off x="7380916" y="2084429"/>
            <a:ext cx="4465643" cy="2834317"/>
          </a:xfrm>
          <a:prstGeom prst="rect">
            <a:avLst/>
          </a:prstGeom>
          <a:noFill/>
          <a:ln>
            <a:noFill/>
          </a:ln>
        </p:spPr>
      </p:pic>
      <p:sp>
        <p:nvSpPr>
          <p:cNvPr id="5" name="TextBox 4">
            <a:extLst>
              <a:ext uri="{FF2B5EF4-FFF2-40B4-BE49-F238E27FC236}">
                <a16:creationId xmlns:a16="http://schemas.microsoft.com/office/drawing/2014/main" id="{16341BF7-274A-888B-5250-0DD3D1C9506A}"/>
              </a:ext>
            </a:extLst>
          </p:cNvPr>
          <p:cNvSpPr txBox="1"/>
          <p:nvPr/>
        </p:nvSpPr>
        <p:spPr>
          <a:xfrm>
            <a:off x="919156" y="2390894"/>
            <a:ext cx="6096000" cy="1631216"/>
          </a:xfrm>
          <a:prstGeom prst="rect">
            <a:avLst/>
          </a:prstGeom>
          <a:noFill/>
        </p:spPr>
        <p:txBody>
          <a:bodyPr wrap="square">
            <a:spAutoFit/>
          </a:bodyPr>
          <a:lstStyle/>
          <a:p>
            <a:pPr marL="0" marR="0" lvl="0" indent="0" algn="l" rtl="0">
              <a:lnSpc>
                <a:spcPct val="100000"/>
              </a:lnSpc>
              <a:spcBef>
                <a:spcPts val="0"/>
              </a:spcBef>
              <a:spcAft>
                <a:spcPts val="0"/>
              </a:spcAft>
              <a:buClr>
                <a:srgbClr val="C00000"/>
              </a:buClr>
              <a:buSzPts val="4400"/>
              <a:buFont typeface="Libre Baskerville"/>
              <a:buNone/>
            </a:pPr>
            <a:r>
              <a:rPr lang="en-IN" sz="10000" b="0" i="1" u="none" strike="noStrike" cap="none" dirty="0">
                <a:solidFill>
                  <a:srgbClr val="FF0000"/>
                </a:solidFill>
                <a:effectLst>
                  <a:outerShdw blurRad="38100" dist="38100" dir="2700000" algn="tl">
                    <a:srgbClr val="000000">
                      <a:alpha val="43137"/>
                    </a:srgbClr>
                  </a:outerShdw>
                </a:effectLst>
                <a:latin typeface="Times New Roman" panose="02020603050405020304" pitchFamily="18" charset="0"/>
                <a:ea typeface="Libre Baskerville"/>
                <a:cs typeface="Times New Roman" panose="02020603050405020304" pitchFamily="18" charset="0"/>
                <a:sym typeface="Libre Baskerville"/>
              </a:rPr>
              <a:t>Thank </a:t>
            </a:r>
            <a:r>
              <a:rPr lang="en-IN" sz="10000" i="1" dirty="0">
                <a:solidFill>
                  <a:srgbClr val="FF0000"/>
                </a:solidFill>
                <a:effectLst>
                  <a:outerShdw blurRad="38100" dist="38100" dir="2700000" algn="tl">
                    <a:srgbClr val="000000">
                      <a:alpha val="43137"/>
                    </a:srgbClr>
                  </a:outerShdw>
                </a:effectLst>
                <a:latin typeface="Times New Roman" panose="02020603050405020304" pitchFamily="18" charset="0"/>
                <a:ea typeface="Libre Baskerville"/>
                <a:cs typeface="Times New Roman" panose="02020603050405020304" pitchFamily="18" charset="0"/>
                <a:sym typeface="Libre Baskerville"/>
              </a:rPr>
              <a:t> </a:t>
            </a:r>
            <a:r>
              <a:rPr lang="en-IN" sz="10000" b="0" i="1" u="none" strike="noStrike" cap="none" dirty="0">
                <a:solidFill>
                  <a:srgbClr val="FF0000"/>
                </a:solidFill>
                <a:effectLst>
                  <a:outerShdw blurRad="38100" dist="38100" dir="2700000" algn="tl">
                    <a:srgbClr val="000000">
                      <a:alpha val="43137"/>
                    </a:srgbClr>
                  </a:outerShdw>
                </a:effectLst>
                <a:latin typeface="Times New Roman" panose="02020603050405020304" pitchFamily="18" charset="0"/>
                <a:ea typeface="Libre Baskerville"/>
                <a:cs typeface="Times New Roman" panose="02020603050405020304" pitchFamily="18" charset="0"/>
                <a:sym typeface="Libre Baskerville"/>
              </a:rPr>
              <a:t>you</a:t>
            </a:r>
            <a:endParaRPr lang="en-IN" sz="10000" b="0" i="1" u="none" strike="noStrike" cap="none" dirty="0">
              <a:solidFill>
                <a:srgbClr val="FF0000"/>
              </a:solidFill>
              <a:effectLst>
                <a:outerShdw blurRad="38100" dist="38100" dir="2700000" algn="tl">
                  <a:srgbClr val="000000">
                    <a:alpha val="43137"/>
                  </a:srgbClr>
                </a:outerShdw>
              </a:effectLst>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186573522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1637</TotalTime>
  <Words>1927</Words>
  <Application>Microsoft Office PowerPoint</Application>
  <PresentationFormat>Widescreen</PresentationFormat>
  <Paragraphs>232</Paragraphs>
  <Slides>24</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Libre Baskerville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 page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bhanu sai prakash</dc:creator>
  <cp:lastModifiedBy>bhanu sai prakash</cp:lastModifiedBy>
  <cp:revision>30</cp:revision>
  <dcterms:created xsi:type="dcterms:W3CDTF">2025-12-21T20:28:37Z</dcterms:created>
  <dcterms:modified xsi:type="dcterms:W3CDTF">2026-01-31T02:39:13Z</dcterms:modified>
</cp:coreProperties>
</file>